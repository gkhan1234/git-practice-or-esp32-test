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2C5F2D"/>
          </a:solidFill>
          <a:ln w="12700">
            <a:solidFill>
              <a:srgbClr val="2C5F2D"/>
            </a:solidFill>
            <a:prstDash val="solid"/>
          </a:ln>
        </p:spPr>
      </p:sp>
      <p:sp>
        <p:nvSpPr>
          <p:cNvPr id="3" name="Text 1"/>
          <p:cNvSpPr/>
          <p:nvPr/>
        </p:nvSpPr>
        <p:spPr>
          <a:xfrm>
            <a:off x="0" y="91440"/>
            <a:ext cx="9144000" cy="548640"/>
          </a:xfrm>
          <a:prstGeom prst="rect">
            <a:avLst/>
          </a:prstGeom>
          <a:noFill/>
          <a:ln/>
        </p:spPr>
        <p:txBody>
          <a:bodyPr wrap="square" rtlCol="0" anchor="ctr"/>
          <a:lstStyle/>
          <a:p>
            <a:pPr algn="ctr" indent="0" marL="0">
              <a:buNone/>
            </a:pPr>
            <a:r>
              <a:rPr lang="en-US" sz="2200" b="1" spc="800" kern="0" dirty="0">
                <a:solidFill>
                  <a:srgbClr val="97BC62"/>
                </a:solidFill>
                <a:latin typeface="Calibri" pitchFamily="34" charset="0"/>
                <a:ea typeface="Calibri" pitchFamily="34" charset="-122"/>
                <a:cs typeface="Calibri" pitchFamily="34" charset="-120"/>
              </a:rPr>
              <a:t>THE MICROLAB</a:t>
            </a:r>
            <a:endParaRPr lang="en-US" sz="2200" dirty="0"/>
          </a:p>
        </p:txBody>
      </p:sp>
      <p:sp>
        <p:nvSpPr>
          <p:cNvPr id="4" name="Text 2"/>
          <p:cNvSpPr/>
          <p:nvPr/>
        </p:nvSpPr>
        <p:spPr>
          <a:xfrm>
            <a:off x="0" y="777240"/>
            <a:ext cx="9144000" cy="411480"/>
          </a:xfrm>
          <a:prstGeom prst="rect">
            <a:avLst/>
          </a:prstGeom>
          <a:noFill/>
          <a:ln/>
        </p:spPr>
        <p:txBody>
          <a:bodyPr wrap="square" rtlCol="0" anchor="ctr"/>
          <a:lstStyle/>
          <a:p>
            <a:pPr algn="ctr" indent="0" marL="0">
              <a:buNone/>
            </a:pPr>
            <a:r>
              <a:rPr lang="en-US" sz="1400" i="1" dirty="0">
                <a:solidFill>
                  <a:srgbClr val="F5F5F5"/>
                </a:solidFill>
                <a:latin typeface="Calibri" pitchFamily="34" charset="0"/>
                <a:ea typeface="Calibri" pitchFamily="34" charset="-122"/>
                <a:cs typeface="Calibri" pitchFamily="34" charset="-120"/>
              </a:rPr>
              <a:t>Mini Greenhouse Monitor</a:t>
            </a:r>
            <a:endParaRPr lang="en-US" sz="1400" dirty="0"/>
          </a:p>
        </p:txBody>
      </p:sp>
      <p:sp>
        <p:nvSpPr>
          <p:cNvPr id="5" name="Shape 3"/>
          <p:cNvSpPr/>
          <p:nvPr/>
        </p:nvSpPr>
        <p:spPr>
          <a:xfrm>
            <a:off x="914400" y="1280160"/>
            <a:ext cx="7315200" cy="2286000"/>
          </a:xfrm>
          <a:prstGeom prst="rect">
            <a:avLst/>
          </a:prstGeom>
          <a:solidFill>
            <a:srgbClr val="1B3A2D"/>
          </a:solidFill>
          <a:ln w="25400">
            <a:solidFill>
              <a:srgbClr val="4A7C59"/>
            </a:solidFill>
            <a:prstDash val="solid"/>
          </a:ln>
          <a:effectLst>
            <a:outerShdw sx="100000" sy="100000" kx="0" ky="0" algn="bl" rotWithShape="0" blurRad="76200" dist="25400" dir="8100000">
              <a:srgbClr val="000000">
                <a:alpha val="12000"/>
              </a:srgbClr>
            </a:outerShdw>
          </a:effectLst>
        </p:spPr>
      </p:sp>
      <p:sp>
        <p:nvSpPr>
          <p:cNvPr id="6" name="Text 4"/>
          <p:cNvSpPr/>
          <p:nvPr/>
        </p:nvSpPr>
        <p:spPr>
          <a:xfrm>
            <a:off x="914400" y="1371600"/>
            <a:ext cx="7315200" cy="100584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Mini Greenhouse Monitor</a:t>
            </a:r>
            <a:endParaRPr lang="en-US" sz="3200" dirty="0"/>
          </a:p>
        </p:txBody>
      </p:sp>
      <p:sp>
        <p:nvSpPr>
          <p:cNvPr id="7" name="Text 5"/>
          <p:cNvSpPr/>
          <p:nvPr/>
        </p:nvSpPr>
        <p:spPr>
          <a:xfrm>
            <a:off x="914400" y="2331720"/>
            <a:ext cx="7315200" cy="411480"/>
          </a:xfrm>
          <a:prstGeom prst="rect">
            <a:avLst/>
          </a:prstGeom>
          <a:noFill/>
          <a:ln/>
        </p:spPr>
        <p:txBody>
          <a:bodyPr wrap="square" rtlCol="0" anchor="ctr"/>
          <a:lstStyle/>
          <a:p>
            <a:pPr algn="ctr" indent="0" marL="0">
              <a:buNone/>
            </a:pPr>
            <a:r>
              <a:rPr lang="en-US" sz="1600" i="1" dirty="0">
                <a:solidFill>
                  <a:srgbClr val="97BC62"/>
                </a:solidFill>
                <a:latin typeface="Calibri" pitchFamily="34" charset="0"/>
                <a:ea typeface="Calibri" pitchFamily="34" charset="-122"/>
                <a:cs typeface="Calibri" pitchFamily="34" charset="-120"/>
              </a:rPr>
              <a:t>A MicroLab Curriculum Module</a:t>
            </a:r>
            <a:endParaRPr lang="en-US" sz="1600" dirty="0"/>
          </a:p>
        </p:txBody>
      </p:sp>
      <p:sp>
        <p:nvSpPr>
          <p:cNvPr id="8" name="Text 6"/>
          <p:cNvSpPr/>
          <p:nvPr/>
        </p:nvSpPr>
        <p:spPr>
          <a:xfrm>
            <a:off x="914400" y="2743200"/>
            <a:ext cx="7315200" cy="365760"/>
          </a:xfrm>
          <a:prstGeom prst="rect">
            <a:avLst/>
          </a:prstGeom>
          <a:noFill/>
          <a:ln/>
        </p:spPr>
        <p:txBody>
          <a:bodyPr wrap="square" rtlCol="0" anchor="ctr"/>
          <a:lstStyle/>
          <a:p>
            <a:pPr algn="ctr" indent="0" marL="0">
              <a:buNone/>
            </a:pPr>
            <a:r>
              <a:rPr lang="en-US" sz="1100" dirty="0">
                <a:solidFill>
                  <a:srgbClr val="6B8F71"/>
                </a:solidFill>
                <a:latin typeface="Calibri" pitchFamily="34" charset="0"/>
                <a:ea typeface="Calibri" pitchFamily="34" charset="-122"/>
                <a:cs typeface="Calibri" pitchFamily="34" charset="-120"/>
              </a:rPr>
              <a:t>ESP32  ·  MicroPython  ·  DHT11  ·  Capacitive Moisture  ·  Dual OLED  ·  Google Sheets</a:t>
            </a:r>
            <a:endParaRPr lang="en-US" sz="1100" dirty="0"/>
          </a:p>
        </p:txBody>
      </p:sp>
      <p:sp>
        <p:nvSpPr>
          <p:cNvPr id="9" name="Shape 7"/>
          <p:cNvSpPr/>
          <p:nvPr/>
        </p:nvSpPr>
        <p:spPr>
          <a:xfrm>
            <a:off x="1188720" y="3657600"/>
            <a:ext cx="1280160" cy="822960"/>
          </a:xfrm>
          <a:prstGeom prst="rect">
            <a:avLst/>
          </a:prstGeom>
          <a:solidFill>
            <a:srgbClr val="4A7C59"/>
          </a:solidFill>
          <a:ln w="12700">
            <a:solidFill>
              <a:srgbClr val="4A7C59"/>
            </a:solidFill>
            <a:prstDash val="solid"/>
          </a:ln>
          <a:effectLst>
            <a:outerShdw sx="100000" sy="100000" kx="0" ky="0" algn="bl" rotWithShape="0" blurRad="76200" dist="25400" dir="8100000">
              <a:srgbClr val="000000">
                <a:alpha val="12000"/>
              </a:srgbClr>
            </a:outerShdw>
          </a:effectLst>
        </p:spPr>
      </p:sp>
      <p:sp>
        <p:nvSpPr>
          <p:cNvPr id="10" name="Text 8"/>
          <p:cNvSpPr/>
          <p:nvPr/>
        </p:nvSpPr>
        <p:spPr>
          <a:xfrm>
            <a:off x="1188720" y="3675888"/>
            <a:ext cx="1280160"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11" name="Text 9"/>
          <p:cNvSpPr/>
          <p:nvPr/>
        </p:nvSpPr>
        <p:spPr>
          <a:xfrm>
            <a:off x="1188720" y="4114800"/>
            <a:ext cx="1280160" cy="320040"/>
          </a:xfrm>
          <a:prstGeom prst="rect">
            <a:avLst/>
          </a:prstGeom>
          <a:noFill/>
          <a:ln/>
        </p:spPr>
        <p:txBody>
          <a:bodyPr wrap="square" lIns="0" tIns="0" rIns="0" bIns="0" rtlCol="0" anchor="ctr"/>
          <a:lstStyle/>
          <a:p>
            <a:pPr algn="ctr" indent="0" marL="0">
              <a:buNone/>
            </a:pPr>
            <a:r>
              <a:rPr lang="en-US" sz="1000" dirty="0">
                <a:solidFill>
                  <a:srgbClr val="97BC62"/>
                </a:solidFill>
                <a:latin typeface="Calibri" pitchFamily="34" charset="0"/>
                <a:ea typeface="Calibri" pitchFamily="34" charset="-122"/>
                <a:cs typeface="Calibri" pitchFamily="34" charset="-120"/>
              </a:rPr>
              <a:t>Modules</a:t>
            </a:r>
            <a:endParaRPr lang="en-US" sz="1000" dirty="0"/>
          </a:p>
        </p:txBody>
      </p:sp>
      <p:sp>
        <p:nvSpPr>
          <p:cNvPr id="12" name="Shape 10"/>
          <p:cNvSpPr/>
          <p:nvPr/>
        </p:nvSpPr>
        <p:spPr>
          <a:xfrm>
            <a:off x="2926080" y="3657600"/>
            <a:ext cx="1280160" cy="822960"/>
          </a:xfrm>
          <a:prstGeom prst="rect">
            <a:avLst/>
          </a:prstGeom>
          <a:solidFill>
            <a:srgbClr val="4A7C59"/>
          </a:solidFill>
          <a:ln w="12700">
            <a:solidFill>
              <a:srgbClr val="4A7C59"/>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2926080" y="3675888"/>
            <a:ext cx="1280160"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4" name="Text 12"/>
          <p:cNvSpPr/>
          <p:nvPr/>
        </p:nvSpPr>
        <p:spPr>
          <a:xfrm>
            <a:off x="2926080" y="4114800"/>
            <a:ext cx="1280160" cy="320040"/>
          </a:xfrm>
          <a:prstGeom prst="rect">
            <a:avLst/>
          </a:prstGeom>
          <a:noFill/>
          <a:ln/>
        </p:spPr>
        <p:txBody>
          <a:bodyPr wrap="square" lIns="0" tIns="0" rIns="0" bIns="0" rtlCol="0" anchor="ctr"/>
          <a:lstStyle/>
          <a:p>
            <a:pPr algn="ctr" indent="0" marL="0">
              <a:buNone/>
            </a:pPr>
            <a:r>
              <a:rPr lang="en-US" sz="1000" dirty="0">
                <a:solidFill>
                  <a:srgbClr val="97BC62"/>
                </a:solidFill>
                <a:latin typeface="Calibri" pitchFamily="34" charset="0"/>
                <a:ea typeface="Calibri" pitchFamily="34" charset="-122"/>
                <a:cs typeface="Calibri" pitchFamily="34" charset="-120"/>
              </a:rPr>
              <a:t>Sensors</a:t>
            </a:r>
            <a:endParaRPr lang="en-US" sz="1000" dirty="0"/>
          </a:p>
        </p:txBody>
      </p:sp>
      <p:sp>
        <p:nvSpPr>
          <p:cNvPr id="15" name="Shape 13"/>
          <p:cNvSpPr/>
          <p:nvPr/>
        </p:nvSpPr>
        <p:spPr>
          <a:xfrm>
            <a:off x="4663440" y="3657600"/>
            <a:ext cx="1280160" cy="822960"/>
          </a:xfrm>
          <a:prstGeom prst="rect">
            <a:avLst/>
          </a:prstGeom>
          <a:solidFill>
            <a:srgbClr val="4A7C59"/>
          </a:solidFill>
          <a:ln w="12700">
            <a:solidFill>
              <a:srgbClr val="4A7C59"/>
            </a:solidFill>
            <a:prstDash val="solid"/>
          </a:ln>
          <a:effectLst>
            <a:outerShdw sx="100000" sy="100000" kx="0" ky="0" algn="bl" rotWithShape="0" blurRad="76200" dist="25400" dir="8100000">
              <a:srgbClr val="000000">
                <a:alpha val="12000"/>
              </a:srgbClr>
            </a:outerShdw>
          </a:effectLst>
        </p:spPr>
      </p:sp>
      <p:sp>
        <p:nvSpPr>
          <p:cNvPr id="16" name="Text 14"/>
          <p:cNvSpPr/>
          <p:nvPr/>
        </p:nvSpPr>
        <p:spPr>
          <a:xfrm>
            <a:off x="4663440" y="3675888"/>
            <a:ext cx="1280160"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7" name="Text 15"/>
          <p:cNvSpPr/>
          <p:nvPr/>
        </p:nvSpPr>
        <p:spPr>
          <a:xfrm>
            <a:off x="4663440" y="4114800"/>
            <a:ext cx="1280160" cy="320040"/>
          </a:xfrm>
          <a:prstGeom prst="rect">
            <a:avLst/>
          </a:prstGeom>
          <a:noFill/>
          <a:ln/>
        </p:spPr>
        <p:txBody>
          <a:bodyPr wrap="square" lIns="0" tIns="0" rIns="0" bIns="0" rtlCol="0" anchor="ctr"/>
          <a:lstStyle/>
          <a:p>
            <a:pPr algn="ctr" indent="0" marL="0">
              <a:buNone/>
            </a:pPr>
            <a:r>
              <a:rPr lang="en-US" sz="1000" dirty="0">
                <a:solidFill>
                  <a:srgbClr val="97BC62"/>
                </a:solidFill>
                <a:latin typeface="Calibri" pitchFamily="34" charset="0"/>
                <a:ea typeface="Calibri" pitchFamily="34" charset="-122"/>
                <a:cs typeface="Calibri" pitchFamily="34" charset="-120"/>
              </a:rPr>
              <a:t>OLEDs</a:t>
            </a:r>
            <a:endParaRPr lang="en-US" sz="1000" dirty="0"/>
          </a:p>
        </p:txBody>
      </p:sp>
      <p:sp>
        <p:nvSpPr>
          <p:cNvPr id="18" name="Shape 16"/>
          <p:cNvSpPr/>
          <p:nvPr/>
        </p:nvSpPr>
        <p:spPr>
          <a:xfrm>
            <a:off x="6400800" y="3657600"/>
            <a:ext cx="1280160" cy="822960"/>
          </a:xfrm>
          <a:prstGeom prst="rect">
            <a:avLst/>
          </a:prstGeom>
          <a:solidFill>
            <a:srgbClr val="4A7C59"/>
          </a:solidFill>
          <a:ln w="12700">
            <a:solidFill>
              <a:srgbClr val="4A7C59"/>
            </a:solidFill>
            <a:prstDash val="solid"/>
          </a:ln>
          <a:effectLst>
            <a:outerShdw sx="100000" sy="100000" kx="0" ky="0" algn="bl" rotWithShape="0" blurRad="76200" dist="25400" dir="8100000">
              <a:srgbClr val="000000">
                <a:alpha val="12000"/>
              </a:srgbClr>
            </a:outerShdw>
          </a:effectLst>
        </p:spPr>
      </p:sp>
      <p:sp>
        <p:nvSpPr>
          <p:cNvPr id="19" name="Text 17"/>
          <p:cNvSpPr/>
          <p:nvPr/>
        </p:nvSpPr>
        <p:spPr>
          <a:xfrm>
            <a:off x="6400800" y="3675888"/>
            <a:ext cx="1280160"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20" name="Text 18"/>
          <p:cNvSpPr/>
          <p:nvPr/>
        </p:nvSpPr>
        <p:spPr>
          <a:xfrm>
            <a:off x="6400800" y="4114800"/>
            <a:ext cx="1280160" cy="320040"/>
          </a:xfrm>
          <a:prstGeom prst="rect">
            <a:avLst/>
          </a:prstGeom>
          <a:noFill/>
          <a:ln/>
        </p:spPr>
        <p:txBody>
          <a:bodyPr wrap="square" lIns="0" tIns="0" rIns="0" bIns="0" rtlCol="0" anchor="ctr"/>
          <a:lstStyle/>
          <a:p>
            <a:pPr algn="ctr" indent="0" marL="0">
              <a:buNone/>
            </a:pPr>
            <a:r>
              <a:rPr lang="en-US" sz="1000" dirty="0">
                <a:solidFill>
                  <a:srgbClr val="97BC62"/>
                </a:solidFill>
                <a:latin typeface="Calibri" pitchFamily="34" charset="0"/>
                <a:ea typeface="Calibri" pitchFamily="34" charset="-122"/>
                <a:cs typeface="Calibri" pitchFamily="34" charset="-120"/>
              </a:rPr>
              <a:t>Dashboard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Project Overview</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Introduction</a:t>
            </a:r>
            <a:endParaRPr lang="en-US" sz="1100" dirty="0"/>
          </a:p>
        </p:txBody>
      </p:sp>
      <p:sp>
        <p:nvSpPr>
          <p:cNvPr id="5" name="Text 3"/>
          <p:cNvSpPr/>
          <p:nvPr/>
        </p:nvSpPr>
        <p:spPr>
          <a:xfrm>
            <a:off x="365760" y="640080"/>
            <a:ext cx="8412480" cy="411480"/>
          </a:xfrm>
          <a:prstGeom prst="rect">
            <a:avLst/>
          </a:prstGeom>
          <a:noFill/>
          <a:ln/>
        </p:spPr>
        <p:txBody>
          <a:bodyPr wrap="square"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The Real-World Problem</a:t>
            </a:r>
            <a:endParaRPr lang="en-US" sz="1600" dirty="0"/>
          </a:p>
        </p:txBody>
      </p:sp>
      <p:sp>
        <p:nvSpPr>
          <p:cNvPr id="6" name="Text 4"/>
          <p:cNvSpPr/>
          <p:nvPr/>
        </p:nvSpPr>
        <p:spPr>
          <a:xfrm>
            <a:off x="365760" y="1005840"/>
            <a:ext cx="8412480" cy="822960"/>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Millions of people — the elderly, those with disabilities, and low-income families — struggle to grow their own food reliably. Traditional gardening requires constant monitoring that isn't always possible. Smart agriculture technology is changing this, and the students who build it are in high demand.</a:t>
            </a:r>
            <a:endParaRPr lang="en-US" sz="1200" dirty="0"/>
          </a:p>
        </p:txBody>
      </p:sp>
      <p:sp>
        <p:nvSpPr>
          <p:cNvPr id="7" name="Shape 5"/>
          <p:cNvSpPr/>
          <p:nvPr/>
        </p:nvSpPr>
        <p:spPr>
          <a:xfrm>
            <a:off x="274320" y="1965960"/>
            <a:ext cx="4114800" cy="1188720"/>
          </a:xfrm>
          <a:prstGeom prst="rect">
            <a:avLst/>
          </a:prstGeom>
          <a:solidFill>
            <a:srgbClr val="FFFFFF"/>
          </a:solidFill>
          <a:ln w="12700">
            <a:solidFill>
              <a:srgbClr val="E0E0E0"/>
            </a:solidFill>
            <a:prstDash val="solid"/>
          </a:ln>
          <a:effectLst>
            <a:outerShdw sx="100000" sy="100000" kx="0" ky="0" algn="bl" rotWithShape="0" blurRad="76200" dist="25400" dir="8100000">
              <a:srgbClr val="000000">
                <a:alpha val="12000"/>
              </a:srgbClr>
            </a:outerShdw>
          </a:effectLst>
        </p:spPr>
      </p:sp>
      <p:sp>
        <p:nvSpPr>
          <p:cNvPr id="8" name="Shape 6"/>
          <p:cNvSpPr/>
          <p:nvPr/>
        </p:nvSpPr>
        <p:spPr>
          <a:xfrm>
            <a:off x="274320" y="1965960"/>
            <a:ext cx="54864" cy="1188720"/>
          </a:xfrm>
          <a:prstGeom prst="rect">
            <a:avLst/>
          </a:prstGeom>
          <a:solidFill>
            <a:srgbClr val="97BC62"/>
          </a:solidFill>
          <a:ln w="12700">
            <a:solidFill>
              <a:srgbClr val="97BC62"/>
            </a:solidFill>
            <a:prstDash val="solid"/>
          </a:ln>
        </p:spPr>
      </p:sp>
      <p:sp>
        <p:nvSpPr>
          <p:cNvPr id="9" name="Text 7"/>
          <p:cNvSpPr/>
          <p:nvPr/>
        </p:nvSpPr>
        <p:spPr>
          <a:xfrm>
            <a:off x="411480" y="2075688"/>
            <a:ext cx="3840480" cy="365760"/>
          </a:xfrm>
          <a:prstGeom prst="rect">
            <a:avLst/>
          </a:prstGeom>
          <a:noFill/>
          <a:ln/>
        </p:spPr>
        <p:txBody>
          <a:bodyPr wrap="square" rtlCol="0" anchor="ctr"/>
          <a:lstStyle/>
          <a:p>
            <a:pPr indent="0" marL="0">
              <a:buNone/>
            </a:pPr>
            <a:r>
              <a:rPr lang="en-US" sz="1300" b="1" dirty="0">
                <a:solidFill>
                  <a:srgbClr val="1B2D1E"/>
                </a:solidFill>
                <a:latin typeface="Calibri" pitchFamily="34" charset="0"/>
                <a:ea typeface="Calibri" pitchFamily="34" charset="-122"/>
                <a:cs typeface="Calibri" pitchFamily="34" charset="-120"/>
              </a:rPr>
              <a:t>What We Build</a:t>
            </a:r>
            <a:endParaRPr lang="en-US" sz="1300" dirty="0"/>
          </a:p>
        </p:txBody>
      </p:sp>
      <p:sp>
        <p:nvSpPr>
          <p:cNvPr id="10" name="Text 8"/>
          <p:cNvSpPr/>
          <p:nvPr/>
        </p:nvSpPr>
        <p:spPr>
          <a:xfrm>
            <a:off x="411480" y="2468880"/>
            <a:ext cx="3840480" cy="594360"/>
          </a:xfrm>
          <a:prstGeom prst="rect">
            <a:avLst/>
          </a:prstGeom>
          <a:noFill/>
          <a:ln/>
        </p:spPr>
        <p:txBody>
          <a:bodyPr wrap="square" rtlCol="0" anchor="t"/>
          <a:lstStyle/>
          <a:p>
            <a:pPr indent="0" marL="0">
              <a:buNone/>
            </a:pPr>
            <a:r>
              <a:rPr lang="en-US" sz="1050" dirty="0">
                <a:solidFill>
                  <a:srgbClr val="1B2D1E"/>
                </a:solidFill>
                <a:latin typeface="Calibri" pitchFamily="34" charset="0"/>
                <a:ea typeface="Calibri" pitchFamily="34" charset="-122"/>
                <a:cs typeface="Calibri" pitchFamily="34" charset="-120"/>
              </a:rPr>
              <a:t>A plexiglass greenhouse enclosure with live temperature, humidity, and soil moisture monitoring displayed on two OLED screens.</a:t>
            </a:r>
            <a:endParaRPr lang="en-US" sz="1050" dirty="0"/>
          </a:p>
        </p:txBody>
      </p:sp>
      <p:sp>
        <p:nvSpPr>
          <p:cNvPr id="11" name="Shape 9"/>
          <p:cNvSpPr/>
          <p:nvPr/>
        </p:nvSpPr>
        <p:spPr>
          <a:xfrm>
            <a:off x="4663440" y="1965960"/>
            <a:ext cx="4114800" cy="1188720"/>
          </a:xfrm>
          <a:prstGeom prst="rect">
            <a:avLst/>
          </a:prstGeom>
          <a:solidFill>
            <a:srgbClr val="FFFFFF"/>
          </a:solidFill>
          <a:ln w="12700">
            <a:solidFill>
              <a:srgbClr val="E0E0E0"/>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4663440" y="1965960"/>
            <a:ext cx="54864" cy="1188720"/>
          </a:xfrm>
          <a:prstGeom prst="rect">
            <a:avLst/>
          </a:prstGeom>
          <a:solidFill>
            <a:srgbClr val="97BC62"/>
          </a:solidFill>
          <a:ln w="12700">
            <a:solidFill>
              <a:srgbClr val="97BC62"/>
            </a:solidFill>
            <a:prstDash val="solid"/>
          </a:ln>
        </p:spPr>
      </p:sp>
      <p:sp>
        <p:nvSpPr>
          <p:cNvPr id="13" name="Text 11"/>
          <p:cNvSpPr/>
          <p:nvPr/>
        </p:nvSpPr>
        <p:spPr>
          <a:xfrm>
            <a:off x="4800600" y="2075688"/>
            <a:ext cx="3840480" cy="365760"/>
          </a:xfrm>
          <a:prstGeom prst="rect">
            <a:avLst/>
          </a:prstGeom>
          <a:noFill/>
          <a:ln/>
        </p:spPr>
        <p:txBody>
          <a:bodyPr wrap="square" rtlCol="0" anchor="ctr"/>
          <a:lstStyle/>
          <a:p>
            <a:pPr indent="0" marL="0">
              <a:buNone/>
            </a:pPr>
            <a:r>
              <a:rPr lang="en-US" sz="1300" b="1" dirty="0">
                <a:solidFill>
                  <a:srgbClr val="1B2D1E"/>
                </a:solidFill>
                <a:latin typeface="Calibri" pitchFamily="34" charset="0"/>
                <a:ea typeface="Calibri" pitchFamily="34" charset="-122"/>
                <a:cs typeface="Calibri" pitchFamily="34" charset="-120"/>
              </a:rPr>
              <a:t>Data Collection</a:t>
            </a:r>
            <a:endParaRPr lang="en-US" sz="1300" dirty="0"/>
          </a:p>
        </p:txBody>
      </p:sp>
      <p:sp>
        <p:nvSpPr>
          <p:cNvPr id="14" name="Text 12"/>
          <p:cNvSpPr/>
          <p:nvPr/>
        </p:nvSpPr>
        <p:spPr>
          <a:xfrm>
            <a:off x="4800600" y="2468880"/>
            <a:ext cx="3840480" cy="594360"/>
          </a:xfrm>
          <a:prstGeom prst="rect">
            <a:avLst/>
          </a:prstGeom>
          <a:noFill/>
          <a:ln/>
        </p:spPr>
        <p:txBody>
          <a:bodyPr wrap="square" rtlCol="0" anchor="t"/>
          <a:lstStyle/>
          <a:p>
            <a:pPr indent="0" marL="0">
              <a:buNone/>
            </a:pPr>
            <a:r>
              <a:rPr lang="en-US" sz="1050" dirty="0">
                <a:solidFill>
                  <a:srgbClr val="1B2D1E"/>
                </a:solidFill>
                <a:latin typeface="Calibri" pitchFamily="34" charset="0"/>
                <a:ea typeface="Calibri" pitchFamily="34" charset="-122"/>
                <a:cs typeface="Calibri" pitchFamily="34" charset="-120"/>
              </a:rPr>
              <a:t>Sensor readings sent to Google Sheets every 5 minutes. Students analyze trends and learn data-driven decision making.</a:t>
            </a:r>
            <a:endParaRPr lang="en-US" sz="1050" dirty="0"/>
          </a:p>
        </p:txBody>
      </p:sp>
      <p:sp>
        <p:nvSpPr>
          <p:cNvPr id="15" name="Shape 13"/>
          <p:cNvSpPr/>
          <p:nvPr/>
        </p:nvSpPr>
        <p:spPr>
          <a:xfrm>
            <a:off x="274320" y="3291840"/>
            <a:ext cx="4114800" cy="1188720"/>
          </a:xfrm>
          <a:prstGeom prst="rect">
            <a:avLst/>
          </a:prstGeom>
          <a:solidFill>
            <a:srgbClr val="FFFFFF"/>
          </a:solidFill>
          <a:ln w="12700">
            <a:solidFill>
              <a:srgbClr val="E0E0E0"/>
            </a:solidFill>
            <a:prstDash val="solid"/>
          </a:ln>
          <a:effectLst>
            <a:outerShdw sx="100000" sy="100000" kx="0" ky="0" algn="bl" rotWithShape="0" blurRad="76200" dist="25400" dir="8100000">
              <a:srgbClr val="000000">
                <a:alpha val="12000"/>
              </a:srgbClr>
            </a:outerShdw>
          </a:effectLst>
        </p:spPr>
      </p:sp>
      <p:sp>
        <p:nvSpPr>
          <p:cNvPr id="16" name="Shape 14"/>
          <p:cNvSpPr/>
          <p:nvPr/>
        </p:nvSpPr>
        <p:spPr>
          <a:xfrm>
            <a:off x="274320" y="3291840"/>
            <a:ext cx="54864" cy="1188720"/>
          </a:xfrm>
          <a:prstGeom prst="rect">
            <a:avLst/>
          </a:prstGeom>
          <a:solidFill>
            <a:srgbClr val="97BC62"/>
          </a:solidFill>
          <a:ln w="12700">
            <a:solidFill>
              <a:srgbClr val="97BC62"/>
            </a:solidFill>
            <a:prstDash val="solid"/>
          </a:ln>
        </p:spPr>
      </p:sp>
      <p:sp>
        <p:nvSpPr>
          <p:cNvPr id="17" name="Text 15"/>
          <p:cNvSpPr/>
          <p:nvPr/>
        </p:nvSpPr>
        <p:spPr>
          <a:xfrm>
            <a:off x="411480" y="3401568"/>
            <a:ext cx="3840480" cy="365760"/>
          </a:xfrm>
          <a:prstGeom prst="rect">
            <a:avLst/>
          </a:prstGeom>
          <a:noFill/>
          <a:ln/>
        </p:spPr>
        <p:txBody>
          <a:bodyPr wrap="square" rtlCol="0" anchor="ctr"/>
          <a:lstStyle/>
          <a:p>
            <a:pPr indent="0" marL="0">
              <a:buNone/>
            </a:pPr>
            <a:r>
              <a:rPr lang="en-US" sz="1300" b="1" dirty="0">
                <a:solidFill>
                  <a:srgbClr val="1B2D1E"/>
                </a:solidFill>
                <a:latin typeface="Calibri" pitchFamily="34" charset="0"/>
                <a:ea typeface="Calibri" pitchFamily="34" charset="-122"/>
                <a:cs typeface="Calibri" pitchFamily="34" charset="-120"/>
              </a:rPr>
              <a:t>AI Integration</a:t>
            </a:r>
            <a:endParaRPr lang="en-US" sz="1300" dirty="0"/>
          </a:p>
        </p:txBody>
      </p:sp>
      <p:sp>
        <p:nvSpPr>
          <p:cNvPr id="18" name="Text 16"/>
          <p:cNvSpPr/>
          <p:nvPr/>
        </p:nvSpPr>
        <p:spPr>
          <a:xfrm>
            <a:off x="411480" y="3794760"/>
            <a:ext cx="3840480" cy="594360"/>
          </a:xfrm>
          <a:prstGeom prst="rect">
            <a:avLst/>
          </a:prstGeom>
          <a:noFill/>
          <a:ln/>
        </p:spPr>
        <p:txBody>
          <a:bodyPr wrap="square" rtlCol="0" anchor="t"/>
          <a:lstStyle/>
          <a:p>
            <a:pPr indent="0" marL="0">
              <a:buNone/>
            </a:pPr>
            <a:r>
              <a:rPr lang="en-US" sz="1050" dirty="0">
                <a:solidFill>
                  <a:srgbClr val="1B2D1E"/>
                </a:solidFill>
                <a:latin typeface="Calibri" pitchFamily="34" charset="0"/>
                <a:ea typeface="Calibri" pitchFamily="34" charset="-122"/>
                <a:cs typeface="Calibri" pitchFamily="34" charset="-120"/>
              </a:rPr>
              <a:t>Tier 1: AI-assisted coding. Tier 2: Threshold-based automated decisions. Tier 3: Edge ML soil classification.</a:t>
            </a:r>
            <a:endParaRPr lang="en-US" sz="1050" dirty="0"/>
          </a:p>
        </p:txBody>
      </p:sp>
      <p:sp>
        <p:nvSpPr>
          <p:cNvPr id="19" name="Shape 17"/>
          <p:cNvSpPr/>
          <p:nvPr/>
        </p:nvSpPr>
        <p:spPr>
          <a:xfrm>
            <a:off x="4663440" y="3291840"/>
            <a:ext cx="4114800" cy="1188720"/>
          </a:xfrm>
          <a:prstGeom prst="rect">
            <a:avLst/>
          </a:prstGeom>
          <a:solidFill>
            <a:srgbClr val="FFFFFF"/>
          </a:solidFill>
          <a:ln w="12700">
            <a:solidFill>
              <a:srgbClr val="E0E0E0"/>
            </a:solidFill>
            <a:prstDash val="solid"/>
          </a:ln>
          <a:effectLst>
            <a:outerShdw sx="100000" sy="100000" kx="0" ky="0" algn="bl" rotWithShape="0" blurRad="76200" dist="25400" dir="8100000">
              <a:srgbClr val="000000">
                <a:alpha val="12000"/>
              </a:srgbClr>
            </a:outerShdw>
          </a:effectLst>
        </p:spPr>
      </p:sp>
      <p:sp>
        <p:nvSpPr>
          <p:cNvPr id="20" name="Shape 18"/>
          <p:cNvSpPr/>
          <p:nvPr/>
        </p:nvSpPr>
        <p:spPr>
          <a:xfrm>
            <a:off x="4663440" y="3291840"/>
            <a:ext cx="54864" cy="1188720"/>
          </a:xfrm>
          <a:prstGeom prst="rect">
            <a:avLst/>
          </a:prstGeom>
          <a:solidFill>
            <a:srgbClr val="97BC62"/>
          </a:solidFill>
          <a:ln w="12700">
            <a:solidFill>
              <a:srgbClr val="97BC62"/>
            </a:solidFill>
            <a:prstDash val="solid"/>
          </a:ln>
        </p:spPr>
      </p:sp>
      <p:sp>
        <p:nvSpPr>
          <p:cNvPr id="21" name="Text 19"/>
          <p:cNvSpPr/>
          <p:nvPr/>
        </p:nvSpPr>
        <p:spPr>
          <a:xfrm>
            <a:off x="4800600" y="3401568"/>
            <a:ext cx="3840480" cy="365760"/>
          </a:xfrm>
          <a:prstGeom prst="rect">
            <a:avLst/>
          </a:prstGeom>
          <a:noFill/>
          <a:ln/>
        </p:spPr>
        <p:txBody>
          <a:bodyPr wrap="square" rtlCol="0" anchor="ctr"/>
          <a:lstStyle/>
          <a:p>
            <a:pPr indent="0" marL="0">
              <a:buNone/>
            </a:pPr>
            <a:r>
              <a:rPr lang="en-US" sz="1300" b="1" dirty="0">
                <a:solidFill>
                  <a:srgbClr val="1B2D1E"/>
                </a:solidFill>
                <a:latin typeface="Calibri" pitchFamily="34" charset="0"/>
                <a:ea typeface="Calibri" pitchFamily="34" charset="-122"/>
                <a:cs typeface="Calibri" pitchFamily="34" charset="-120"/>
              </a:rPr>
              <a:t>Career Connection</a:t>
            </a:r>
            <a:endParaRPr lang="en-US" sz="1300" dirty="0"/>
          </a:p>
        </p:txBody>
      </p:sp>
      <p:sp>
        <p:nvSpPr>
          <p:cNvPr id="22" name="Text 20"/>
          <p:cNvSpPr/>
          <p:nvPr/>
        </p:nvSpPr>
        <p:spPr>
          <a:xfrm>
            <a:off x="4800600" y="3794760"/>
            <a:ext cx="3840480" cy="594360"/>
          </a:xfrm>
          <a:prstGeom prst="rect">
            <a:avLst/>
          </a:prstGeom>
          <a:noFill/>
          <a:ln/>
        </p:spPr>
        <p:txBody>
          <a:bodyPr wrap="square" rtlCol="0" anchor="t"/>
          <a:lstStyle/>
          <a:p>
            <a:pPr indent="0" marL="0">
              <a:buNone/>
            </a:pPr>
            <a:r>
              <a:rPr lang="en-US" sz="1050" dirty="0">
                <a:solidFill>
                  <a:srgbClr val="1B2D1E"/>
                </a:solidFill>
                <a:latin typeface="Calibri" pitchFamily="34" charset="0"/>
                <a:ea typeface="Calibri" pitchFamily="34" charset="-122"/>
                <a:cs typeface="Calibri" pitchFamily="34" charset="-120"/>
              </a:rPr>
              <a:t>AgTech, biomedical monitoring, precision agriculture, GE Aerospace environmental systems — all use this exact technology.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Hardware List</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Bill of Materials</a:t>
            </a:r>
            <a:endParaRPr lang="en-US" sz="1100" dirty="0"/>
          </a:p>
        </p:txBody>
      </p:sp>
      <p:sp>
        <p:nvSpPr>
          <p:cNvPr id="5" name="Text 3"/>
          <p:cNvSpPr/>
          <p:nvPr/>
        </p:nvSpPr>
        <p:spPr>
          <a:xfrm>
            <a:off x="365760" y="640080"/>
            <a:ext cx="8229600" cy="365760"/>
          </a:xfrm>
          <a:prstGeom prst="rect">
            <a:avLst/>
          </a:prstGeom>
          <a:noFill/>
          <a:ln/>
        </p:spPr>
        <p:txBody>
          <a:bodyPr wrap="square"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Components Required</a:t>
            </a:r>
            <a:endParaRPr lang="en-US" sz="1500" dirty="0"/>
          </a:p>
        </p:txBody>
      </p:sp>
      <p:sp>
        <p:nvSpPr>
          <p:cNvPr id="6" name="Shape 4"/>
          <p:cNvSpPr/>
          <p:nvPr/>
        </p:nvSpPr>
        <p:spPr>
          <a:xfrm>
            <a:off x="274320" y="1097280"/>
            <a:ext cx="8595360" cy="402336"/>
          </a:xfrm>
          <a:prstGeom prst="rect">
            <a:avLst/>
          </a:prstGeom>
          <a:solidFill>
            <a:srgbClr val="FFFFFF"/>
          </a:solidFill>
          <a:ln w="6350">
            <a:solidFill>
              <a:srgbClr val="E0E0E0"/>
            </a:solidFill>
            <a:prstDash val="solid"/>
          </a:ln>
        </p:spPr>
      </p:sp>
      <p:sp>
        <p:nvSpPr>
          <p:cNvPr id="7" name="Shape 5"/>
          <p:cNvSpPr/>
          <p:nvPr/>
        </p:nvSpPr>
        <p:spPr>
          <a:xfrm>
            <a:off x="347472" y="1170432"/>
            <a:ext cx="256032" cy="256032"/>
          </a:xfrm>
          <a:prstGeom prst="ellipse">
            <a:avLst/>
          </a:prstGeom>
          <a:solidFill>
            <a:srgbClr val="4A7C59"/>
          </a:solidFill>
          <a:ln w="12700">
            <a:solidFill>
              <a:srgbClr val="4A7C59"/>
            </a:solidFill>
            <a:prstDash val="solid"/>
          </a:ln>
        </p:spPr>
      </p:sp>
      <p:sp>
        <p:nvSpPr>
          <p:cNvPr id="8" name="Text 6"/>
          <p:cNvSpPr/>
          <p:nvPr/>
        </p:nvSpPr>
        <p:spPr>
          <a:xfrm>
            <a:off x="347472" y="1170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685800" y="1133856"/>
            <a:ext cx="2743200" cy="329184"/>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ESP32 30-pin Dev Board</a:t>
            </a:r>
            <a:endParaRPr lang="en-US" sz="1100" dirty="0"/>
          </a:p>
        </p:txBody>
      </p:sp>
      <p:sp>
        <p:nvSpPr>
          <p:cNvPr id="10" name="Text 8"/>
          <p:cNvSpPr/>
          <p:nvPr/>
        </p:nvSpPr>
        <p:spPr>
          <a:xfrm>
            <a:off x="3474720" y="1133856"/>
            <a:ext cx="3474720" cy="329184"/>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Main microcontroller — runs MicroPython, broadcasts WiFi AP</a:t>
            </a:r>
            <a:endParaRPr lang="en-US" sz="1000" dirty="0"/>
          </a:p>
        </p:txBody>
      </p:sp>
      <p:sp>
        <p:nvSpPr>
          <p:cNvPr id="11" name="Text 9"/>
          <p:cNvSpPr/>
          <p:nvPr/>
        </p:nvSpPr>
        <p:spPr>
          <a:xfrm>
            <a:off x="6995160" y="1133856"/>
            <a:ext cx="1828800" cy="329184"/>
          </a:xfrm>
          <a:prstGeom prst="rect">
            <a:avLst/>
          </a:prstGeom>
          <a:noFill/>
          <a:ln/>
        </p:spPr>
        <p:txBody>
          <a:bodyPr wrap="square" lIns="0" tIns="0" rIns="0" bIns="0" rtlCol="0" anchor="ctr"/>
          <a:lstStyle/>
          <a:p>
            <a:pPr indent="0" marL="0">
              <a:buNone/>
            </a:pPr>
            <a:r>
              <a:rPr lang="en-US" sz="1000" dirty="0">
                <a:solidFill>
                  <a:srgbClr val="4A7C59"/>
                </a:solidFill>
                <a:latin typeface="Calibri" pitchFamily="34" charset="0"/>
                <a:ea typeface="Calibri" pitchFamily="34" charset="-122"/>
                <a:cs typeface="Calibri" pitchFamily="34" charset="-120"/>
              </a:rPr>
              <a:t>Seeed Studio / Amazon</a:t>
            </a:r>
            <a:endParaRPr lang="en-US" sz="1000" dirty="0"/>
          </a:p>
        </p:txBody>
      </p:sp>
      <p:sp>
        <p:nvSpPr>
          <p:cNvPr id="12" name="Shape 10"/>
          <p:cNvSpPr/>
          <p:nvPr/>
        </p:nvSpPr>
        <p:spPr>
          <a:xfrm>
            <a:off x="274320" y="1554480"/>
            <a:ext cx="8595360" cy="402336"/>
          </a:xfrm>
          <a:prstGeom prst="rect">
            <a:avLst/>
          </a:prstGeom>
          <a:solidFill>
            <a:srgbClr val="EEF5EE"/>
          </a:solidFill>
          <a:ln w="6350">
            <a:solidFill>
              <a:srgbClr val="E0E0E0"/>
            </a:solidFill>
            <a:prstDash val="solid"/>
          </a:ln>
        </p:spPr>
      </p:sp>
      <p:sp>
        <p:nvSpPr>
          <p:cNvPr id="13" name="Shape 11"/>
          <p:cNvSpPr/>
          <p:nvPr/>
        </p:nvSpPr>
        <p:spPr>
          <a:xfrm>
            <a:off x="347472" y="1627632"/>
            <a:ext cx="256032" cy="256032"/>
          </a:xfrm>
          <a:prstGeom prst="ellipse">
            <a:avLst/>
          </a:prstGeom>
          <a:solidFill>
            <a:srgbClr val="4A7C59"/>
          </a:solidFill>
          <a:ln w="12700">
            <a:solidFill>
              <a:srgbClr val="4A7C59"/>
            </a:solidFill>
            <a:prstDash val="solid"/>
          </a:ln>
        </p:spPr>
      </p:sp>
      <p:sp>
        <p:nvSpPr>
          <p:cNvPr id="14" name="Text 12"/>
          <p:cNvSpPr/>
          <p:nvPr/>
        </p:nvSpPr>
        <p:spPr>
          <a:xfrm>
            <a:off x="347472" y="16276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685800" y="1591056"/>
            <a:ext cx="2743200" cy="329184"/>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DHT11 Sensor</a:t>
            </a:r>
            <a:endParaRPr lang="en-US" sz="1100" dirty="0"/>
          </a:p>
        </p:txBody>
      </p:sp>
      <p:sp>
        <p:nvSpPr>
          <p:cNvPr id="16" name="Text 14"/>
          <p:cNvSpPr/>
          <p:nvPr/>
        </p:nvSpPr>
        <p:spPr>
          <a:xfrm>
            <a:off x="3474720" y="1591056"/>
            <a:ext cx="3474720" cy="329184"/>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Temperature &amp; Humidity — 3-pin module</a:t>
            </a:r>
            <a:endParaRPr lang="en-US" sz="1000" dirty="0"/>
          </a:p>
        </p:txBody>
      </p:sp>
      <p:sp>
        <p:nvSpPr>
          <p:cNvPr id="17" name="Text 15"/>
          <p:cNvSpPr/>
          <p:nvPr/>
        </p:nvSpPr>
        <p:spPr>
          <a:xfrm>
            <a:off x="6995160" y="1591056"/>
            <a:ext cx="1828800" cy="329184"/>
          </a:xfrm>
          <a:prstGeom prst="rect">
            <a:avLst/>
          </a:prstGeom>
          <a:noFill/>
          <a:ln/>
        </p:spPr>
        <p:txBody>
          <a:bodyPr wrap="square" lIns="0" tIns="0" rIns="0" bIns="0" rtlCol="0" anchor="ctr"/>
          <a:lstStyle/>
          <a:p>
            <a:pPr indent="0" marL="0">
              <a:buNone/>
            </a:pPr>
            <a:r>
              <a:rPr lang="en-US" sz="1000" dirty="0">
                <a:solidFill>
                  <a:srgbClr val="4A7C59"/>
                </a:solidFill>
                <a:latin typeface="Calibri" pitchFamily="34" charset="0"/>
                <a:ea typeface="Calibri" pitchFamily="34" charset="-122"/>
                <a:cs typeface="Calibri" pitchFamily="34" charset="-120"/>
              </a:rPr>
              <a:t>Amazon</a:t>
            </a:r>
            <a:endParaRPr lang="en-US" sz="1000" dirty="0"/>
          </a:p>
        </p:txBody>
      </p:sp>
      <p:sp>
        <p:nvSpPr>
          <p:cNvPr id="18" name="Shape 16"/>
          <p:cNvSpPr/>
          <p:nvPr/>
        </p:nvSpPr>
        <p:spPr>
          <a:xfrm>
            <a:off x="274320" y="2011680"/>
            <a:ext cx="8595360" cy="402336"/>
          </a:xfrm>
          <a:prstGeom prst="rect">
            <a:avLst/>
          </a:prstGeom>
          <a:solidFill>
            <a:srgbClr val="FFFFFF"/>
          </a:solidFill>
          <a:ln w="6350">
            <a:solidFill>
              <a:srgbClr val="E0E0E0"/>
            </a:solidFill>
            <a:prstDash val="solid"/>
          </a:ln>
        </p:spPr>
      </p:sp>
      <p:sp>
        <p:nvSpPr>
          <p:cNvPr id="19" name="Shape 17"/>
          <p:cNvSpPr/>
          <p:nvPr/>
        </p:nvSpPr>
        <p:spPr>
          <a:xfrm>
            <a:off x="347472" y="2084832"/>
            <a:ext cx="256032" cy="256032"/>
          </a:xfrm>
          <a:prstGeom prst="ellipse">
            <a:avLst/>
          </a:prstGeom>
          <a:solidFill>
            <a:srgbClr val="4A7C59"/>
          </a:solidFill>
          <a:ln w="12700">
            <a:solidFill>
              <a:srgbClr val="4A7C59"/>
            </a:solidFill>
            <a:prstDash val="solid"/>
          </a:ln>
        </p:spPr>
      </p:sp>
      <p:sp>
        <p:nvSpPr>
          <p:cNvPr id="20" name="Text 18"/>
          <p:cNvSpPr/>
          <p:nvPr/>
        </p:nvSpPr>
        <p:spPr>
          <a:xfrm>
            <a:off x="347472" y="20848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1" name="Text 19"/>
          <p:cNvSpPr/>
          <p:nvPr/>
        </p:nvSpPr>
        <p:spPr>
          <a:xfrm>
            <a:off x="685800" y="2048256"/>
            <a:ext cx="2743200" cy="329184"/>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Capacitive Moisture Sensor</a:t>
            </a:r>
            <a:endParaRPr lang="en-US" sz="1100" dirty="0"/>
          </a:p>
        </p:txBody>
      </p:sp>
      <p:sp>
        <p:nvSpPr>
          <p:cNvPr id="22" name="Text 20"/>
          <p:cNvSpPr/>
          <p:nvPr/>
        </p:nvSpPr>
        <p:spPr>
          <a:xfrm>
            <a:off x="3474720" y="2048256"/>
            <a:ext cx="3474720" cy="329184"/>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Soil moisture — TLC555I chip version (DIYables 4-pack)</a:t>
            </a:r>
            <a:endParaRPr lang="en-US" sz="1000" dirty="0"/>
          </a:p>
        </p:txBody>
      </p:sp>
      <p:sp>
        <p:nvSpPr>
          <p:cNvPr id="23" name="Text 21"/>
          <p:cNvSpPr/>
          <p:nvPr/>
        </p:nvSpPr>
        <p:spPr>
          <a:xfrm>
            <a:off x="6995160" y="2048256"/>
            <a:ext cx="1828800" cy="329184"/>
          </a:xfrm>
          <a:prstGeom prst="rect">
            <a:avLst/>
          </a:prstGeom>
          <a:noFill/>
          <a:ln/>
        </p:spPr>
        <p:txBody>
          <a:bodyPr wrap="square" lIns="0" tIns="0" rIns="0" bIns="0" rtlCol="0" anchor="ctr"/>
          <a:lstStyle/>
          <a:p>
            <a:pPr indent="0" marL="0">
              <a:buNone/>
            </a:pPr>
            <a:r>
              <a:rPr lang="en-US" sz="1000" dirty="0">
                <a:solidFill>
                  <a:srgbClr val="4A7C59"/>
                </a:solidFill>
                <a:latin typeface="Calibri" pitchFamily="34" charset="0"/>
                <a:ea typeface="Calibri" pitchFamily="34" charset="-122"/>
                <a:cs typeface="Calibri" pitchFamily="34" charset="-120"/>
              </a:rPr>
              <a:t>Amazon</a:t>
            </a:r>
            <a:endParaRPr lang="en-US" sz="1000" dirty="0"/>
          </a:p>
        </p:txBody>
      </p:sp>
      <p:sp>
        <p:nvSpPr>
          <p:cNvPr id="24" name="Shape 22"/>
          <p:cNvSpPr/>
          <p:nvPr/>
        </p:nvSpPr>
        <p:spPr>
          <a:xfrm>
            <a:off x="274320" y="2468880"/>
            <a:ext cx="8595360" cy="402336"/>
          </a:xfrm>
          <a:prstGeom prst="rect">
            <a:avLst/>
          </a:prstGeom>
          <a:solidFill>
            <a:srgbClr val="EEF5EE"/>
          </a:solidFill>
          <a:ln w="6350">
            <a:solidFill>
              <a:srgbClr val="E0E0E0"/>
            </a:solidFill>
            <a:prstDash val="solid"/>
          </a:ln>
        </p:spPr>
      </p:sp>
      <p:sp>
        <p:nvSpPr>
          <p:cNvPr id="25" name="Shape 23"/>
          <p:cNvSpPr/>
          <p:nvPr/>
        </p:nvSpPr>
        <p:spPr>
          <a:xfrm>
            <a:off x="347472" y="2542032"/>
            <a:ext cx="256032" cy="256032"/>
          </a:xfrm>
          <a:prstGeom prst="ellipse">
            <a:avLst/>
          </a:prstGeom>
          <a:solidFill>
            <a:srgbClr val="4A7C59"/>
          </a:solidFill>
          <a:ln w="12700">
            <a:solidFill>
              <a:srgbClr val="4A7C59"/>
            </a:solidFill>
            <a:prstDash val="solid"/>
          </a:ln>
        </p:spPr>
      </p:sp>
      <p:sp>
        <p:nvSpPr>
          <p:cNvPr id="26" name="Text 24"/>
          <p:cNvSpPr/>
          <p:nvPr/>
        </p:nvSpPr>
        <p:spPr>
          <a:xfrm>
            <a:off x="347472" y="25420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25"/>
          <p:cNvSpPr/>
          <p:nvPr/>
        </p:nvSpPr>
        <p:spPr>
          <a:xfrm>
            <a:off x="685800" y="2505456"/>
            <a:ext cx="2743200" cy="329184"/>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SSD1306 OLED Display x2</a:t>
            </a:r>
            <a:endParaRPr lang="en-US" sz="1100" dirty="0"/>
          </a:p>
        </p:txBody>
      </p:sp>
      <p:sp>
        <p:nvSpPr>
          <p:cNvPr id="28" name="Text 26"/>
          <p:cNvSpPr/>
          <p:nvPr/>
        </p:nvSpPr>
        <p:spPr>
          <a:xfrm>
            <a:off x="3474720" y="2505456"/>
            <a:ext cx="3474720" cy="329184"/>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128x64 I2C — 0.96" displays for live data</a:t>
            </a:r>
            <a:endParaRPr lang="en-US" sz="1000" dirty="0"/>
          </a:p>
        </p:txBody>
      </p:sp>
      <p:sp>
        <p:nvSpPr>
          <p:cNvPr id="29" name="Text 27"/>
          <p:cNvSpPr/>
          <p:nvPr/>
        </p:nvSpPr>
        <p:spPr>
          <a:xfrm>
            <a:off x="6995160" y="2505456"/>
            <a:ext cx="1828800" cy="329184"/>
          </a:xfrm>
          <a:prstGeom prst="rect">
            <a:avLst/>
          </a:prstGeom>
          <a:noFill/>
          <a:ln/>
        </p:spPr>
        <p:txBody>
          <a:bodyPr wrap="square" lIns="0" tIns="0" rIns="0" bIns="0" rtlCol="0" anchor="ctr"/>
          <a:lstStyle/>
          <a:p>
            <a:pPr indent="0" marL="0">
              <a:buNone/>
            </a:pPr>
            <a:r>
              <a:rPr lang="en-US" sz="1000" dirty="0">
                <a:solidFill>
                  <a:srgbClr val="4A7C59"/>
                </a:solidFill>
                <a:latin typeface="Calibri" pitchFamily="34" charset="0"/>
                <a:ea typeface="Calibri" pitchFamily="34" charset="-122"/>
                <a:cs typeface="Calibri" pitchFamily="34" charset="-120"/>
              </a:rPr>
              <a:t>Amazon / Seeed Studio</a:t>
            </a:r>
            <a:endParaRPr lang="en-US" sz="1000" dirty="0"/>
          </a:p>
        </p:txBody>
      </p:sp>
      <p:sp>
        <p:nvSpPr>
          <p:cNvPr id="30" name="Shape 28"/>
          <p:cNvSpPr/>
          <p:nvPr/>
        </p:nvSpPr>
        <p:spPr>
          <a:xfrm>
            <a:off x="274320" y="2926080"/>
            <a:ext cx="8595360" cy="402336"/>
          </a:xfrm>
          <a:prstGeom prst="rect">
            <a:avLst/>
          </a:prstGeom>
          <a:solidFill>
            <a:srgbClr val="FFFFFF"/>
          </a:solidFill>
          <a:ln w="6350">
            <a:solidFill>
              <a:srgbClr val="E0E0E0"/>
            </a:solidFill>
            <a:prstDash val="solid"/>
          </a:ln>
        </p:spPr>
      </p:sp>
      <p:sp>
        <p:nvSpPr>
          <p:cNvPr id="31" name="Shape 29"/>
          <p:cNvSpPr/>
          <p:nvPr/>
        </p:nvSpPr>
        <p:spPr>
          <a:xfrm>
            <a:off x="347472" y="2999232"/>
            <a:ext cx="256032" cy="256032"/>
          </a:xfrm>
          <a:prstGeom prst="ellipse">
            <a:avLst/>
          </a:prstGeom>
          <a:solidFill>
            <a:srgbClr val="4A7C59"/>
          </a:solidFill>
          <a:ln w="12700">
            <a:solidFill>
              <a:srgbClr val="4A7C59"/>
            </a:solidFill>
            <a:prstDash val="solid"/>
          </a:ln>
        </p:spPr>
      </p:sp>
      <p:sp>
        <p:nvSpPr>
          <p:cNvPr id="32" name="Text 30"/>
          <p:cNvSpPr/>
          <p:nvPr/>
        </p:nvSpPr>
        <p:spPr>
          <a:xfrm>
            <a:off x="347472" y="29992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3" name="Text 31"/>
          <p:cNvSpPr/>
          <p:nvPr/>
        </p:nvSpPr>
        <p:spPr>
          <a:xfrm>
            <a:off x="685800" y="2962656"/>
            <a:ext cx="2743200" cy="329184"/>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Jumper Wires</a:t>
            </a:r>
            <a:endParaRPr lang="en-US" sz="1100" dirty="0"/>
          </a:p>
        </p:txBody>
      </p:sp>
      <p:sp>
        <p:nvSpPr>
          <p:cNvPr id="34" name="Text 32"/>
          <p:cNvSpPr/>
          <p:nvPr/>
        </p:nvSpPr>
        <p:spPr>
          <a:xfrm>
            <a:off x="3474720" y="2962656"/>
            <a:ext cx="3474720" cy="329184"/>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Male-to-male and male-to-female assorted</a:t>
            </a:r>
            <a:endParaRPr lang="en-US" sz="1000" dirty="0"/>
          </a:p>
        </p:txBody>
      </p:sp>
      <p:sp>
        <p:nvSpPr>
          <p:cNvPr id="35" name="Text 33"/>
          <p:cNvSpPr/>
          <p:nvPr/>
        </p:nvSpPr>
        <p:spPr>
          <a:xfrm>
            <a:off x="6995160" y="2962656"/>
            <a:ext cx="1828800" cy="329184"/>
          </a:xfrm>
          <a:prstGeom prst="rect">
            <a:avLst/>
          </a:prstGeom>
          <a:noFill/>
          <a:ln/>
        </p:spPr>
        <p:txBody>
          <a:bodyPr wrap="square" lIns="0" tIns="0" rIns="0" bIns="0" rtlCol="0" anchor="ctr"/>
          <a:lstStyle/>
          <a:p>
            <a:pPr indent="0" marL="0">
              <a:buNone/>
            </a:pPr>
            <a:r>
              <a:rPr lang="en-US" sz="1000" dirty="0">
                <a:solidFill>
                  <a:srgbClr val="4A7C59"/>
                </a:solidFill>
                <a:latin typeface="Calibri" pitchFamily="34" charset="0"/>
                <a:ea typeface="Calibri" pitchFamily="34" charset="-122"/>
                <a:cs typeface="Calibri" pitchFamily="34" charset="-120"/>
              </a:rPr>
              <a:t>Amazon</a:t>
            </a:r>
            <a:endParaRPr lang="en-US" sz="1000" dirty="0"/>
          </a:p>
        </p:txBody>
      </p:sp>
      <p:sp>
        <p:nvSpPr>
          <p:cNvPr id="36" name="Shape 34"/>
          <p:cNvSpPr/>
          <p:nvPr/>
        </p:nvSpPr>
        <p:spPr>
          <a:xfrm>
            <a:off x="274320" y="3383280"/>
            <a:ext cx="8595360" cy="402336"/>
          </a:xfrm>
          <a:prstGeom prst="rect">
            <a:avLst/>
          </a:prstGeom>
          <a:solidFill>
            <a:srgbClr val="EEF5EE"/>
          </a:solidFill>
          <a:ln w="6350">
            <a:solidFill>
              <a:srgbClr val="E0E0E0"/>
            </a:solidFill>
            <a:prstDash val="solid"/>
          </a:ln>
        </p:spPr>
      </p:sp>
      <p:sp>
        <p:nvSpPr>
          <p:cNvPr id="37" name="Shape 35"/>
          <p:cNvSpPr/>
          <p:nvPr/>
        </p:nvSpPr>
        <p:spPr>
          <a:xfrm>
            <a:off x="347472" y="3456432"/>
            <a:ext cx="256032" cy="256032"/>
          </a:xfrm>
          <a:prstGeom prst="ellipse">
            <a:avLst/>
          </a:prstGeom>
          <a:solidFill>
            <a:srgbClr val="4A7C59"/>
          </a:solidFill>
          <a:ln w="12700">
            <a:solidFill>
              <a:srgbClr val="4A7C59"/>
            </a:solidFill>
            <a:prstDash val="solid"/>
          </a:ln>
        </p:spPr>
      </p:sp>
      <p:sp>
        <p:nvSpPr>
          <p:cNvPr id="38" name="Text 36"/>
          <p:cNvSpPr/>
          <p:nvPr/>
        </p:nvSpPr>
        <p:spPr>
          <a:xfrm>
            <a:off x="347472" y="3456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9" name="Text 37"/>
          <p:cNvSpPr/>
          <p:nvPr/>
        </p:nvSpPr>
        <p:spPr>
          <a:xfrm>
            <a:off x="685800" y="3419856"/>
            <a:ext cx="2743200" cy="329184"/>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Breadboard</a:t>
            </a:r>
            <a:endParaRPr lang="en-US" sz="1100" dirty="0"/>
          </a:p>
        </p:txBody>
      </p:sp>
      <p:sp>
        <p:nvSpPr>
          <p:cNvPr id="40" name="Text 38"/>
          <p:cNvSpPr/>
          <p:nvPr/>
        </p:nvSpPr>
        <p:spPr>
          <a:xfrm>
            <a:off x="3474720" y="3419856"/>
            <a:ext cx="3474720" cy="329184"/>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Full-size 830-point for prototyping</a:t>
            </a:r>
            <a:endParaRPr lang="en-US" sz="1000" dirty="0"/>
          </a:p>
        </p:txBody>
      </p:sp>
      <p:sp>
        <p:nvSpPr>
          <p:cNvPr id="41" name="Text 39"/>
          <p:cNvSpPr/>
          <p:nvPr/>
        </p:nvSpPr>
        <p:spPr>
          <a:xfrm>
            <a:off x="6995160" y="3419856"/>
            <a:ext cx="1828800" cy="329184"/>
          </a:xfrm>
          <a:prstGeom prst="rect">
            <a:avLst/>
          </a:prstGeom>
          <a:noFill/>
          <a:ln/>
        </p:spPr>
        <p:txBody>
          <a:bodyPr wrap="square" lIns="0" tIns="0" rIns="0" bIns="0" rtlCol="0" anchor="ctr"/>
          <a:lstStyle/>
          <a:p>
            <a:pPr indent="0" marL="0">
              <a:buNone/>
            </a:pPr>
            <a:r>
              <a:rPr lang="en-US" sz="1000" dirty="0">
                <a:solidFill>
                  <a:srgbClr val="4A7C59"/>
                </a:solidFill>
                <a:latin typeface="Calibri" pitchFamily="34" charset="0"/>
                <a:ea typeface="Calibri" pitchFamily="34" charset="-122"/>
                <a:cs typeface="Calibri" pitchFamily="34" charset="-120"/>
              </a:rPr>
              <a:t>Amazon</a:t>
            </a:r>
            <a:endParaRPr lang="en-US" sz="1000" dirty="0"/>
          </a:p>
        </p:txBody>
      </p:sp>
      <p:sp>
        <p:nvSpPr>
          <p:cNvPr id="42" name="Shape 40"/>
          <p:cNvSpPr/>
          <p:nvPr/>
        </p:nvSpPr>
        <p:spPr>
          <a:xfrm>
            <a:off x="274320" y="3840480"/>
            <a:ext cx="8595360" cy="402336"/>
          </a:xfrm>
          <a:prstGeom prst="rect">
            <a:avLst/>
          </a:prstGeom>
          <a:solidFill>
            <a:srgbClr val="FFFFFF"/>
          </a:solidFill>
          <a:ln w="6350">
            <a:solidFill>
              <a:srgbClr val="E0E0E0"/>
            </a:solidFill>
            <a:prstDash val="solid"/>
          </a:ln>
        </p:spPr>
      </p:sp>
      <p:sp>
        <p:nvSpPr>
          <p:cNvPr id="43" name="Shape 41"/>
          <p:cNvSpPr/>
          <p:nvPr/>
        </p:nvSpPr>
        <p:spPr>
          <a:xfrm>
            <a:off x="347472" y="3913632"/>
            <a:ext cx="256032" cy="256032"/>
          </a:xfrm>
          <a:prstGeom prst="ellipse">
            <a:avLst/>
          </a:prstGeom>
          <a:solidFill>
            <a:srgbClr val="4A7C59"/>
          </a:solidFill>
          <a:ln w="12700">
            <a:solidFill>
              <a:srgbClr val="4A7C59"/>
            </a:solidFill>
            <a:prstDash val="solid"/>
          </a:ln>
        </p:spPr>
      </p:sp>
      <p:sp>
        <p:nvSpPr>
          <p:cNvPr id="44" name="Text 42"/>
          <p:cNvSpPr/>
          <p:nvPr/>
        </p:nvSpPr>
        <p:spPr>
          <a:xfrm>
            <a:off x="347472" y="39136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685800" y="3877056"/>
            <a:ext cx="2743200" cy="329184"/>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Micro USB Cable</a:t>
            </a:r>
            <a:endParaRPr lang="en-US" sz="1100" dirty="0"/>
          </a:p>
        </p:txBody>
      </p:sp>
      <p:sp>
        <p:nvSpPr>
          <p:cNvPr id="46" name="Text 44"/>
          <p:cNvSpPr/>
          <p:nvPr/>
        </p:nvSpPr>
        <p:spPr>
          <a:xfrm>
            <a:off x="3474720" y="3877056"/>
            <a:ext cx="3474720" cy="329184"/>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For programming via Thonny IDE</a:t>
            </a:r>
            <a:endParaRPr lang="en-US" sz="1000" dirty="0"/>
          </a:p>
        </p:txBody>
      </p:sp>
      <p:sp>
        <p:nvSpPr>
          <p:cNvPr id="47" name="Text 45"/>
          <p:cNvSpPr/>
          <p:nvPr/>
        </p:nvSpPr>
        <p:spPr>
          <a:xfrm>
            <a:off x="6995160" y="3877056"/>
            <a:ext cx="1828800" cy="329184"/>
          </a:xfrm>
          <a:prstGeom prst="rect">
            <a:avLst/>
          </a:prstGeom>
          <a:noFill/>
          <a:ln/>
        </p:spPr>
        <p:txBody>
          <a:bodyPr wrap="square" lIns="0" tIns="0" rIns="0" bIns="0" rtlCol="0" anchor="ctr"/>
          <a:lstStyle/>
          <a:p>
            <a:pPr indent="0" marL="0">
              <a:buNone/>
            </a:pPr>
            <a:r>
              <a:rPr lang="en-US" sz="1000" dirty="0">
                <a:solidFill>
                  <a:srgbClr val="4A7C59"/>
                </a:solidFill>
                <a:latin typeface="Calibri" pitchFamily="34" charset="0"/>
                <a:ea typeface="Calibri" pitchFamily="34" charset="-122"/>
                <a:cs typeface="Calibri" pitchFamily="34" charset="-120"/>
              </a:rPr>
              <a:t>Amazon</a:t>
            </a:r>
            <a:endParaRPr lang="en-US" sz="1000" dirty="0"/>
          </a:p>
        </p:txBody>
      </p:sp>
      <p:sp>
        <p:nvSpPr>
          <p:cNvPr id="48" name="Shape 46"/>
          <p:cNvSpPr/>
          <p:nvPr/>
        </p:nvSpPr>
        <p:spPr>
          <a:xfrm>
            <a:off x="274320" y="4297680"/>
            <a:ext cx="8595360" cy="402336"/>
          </a:xfrm>
          <a:prstGeom prst="rect">
            <a:avLst/>
          </a:prstGeom>
          <a:solidFill>
            <a:srgbClr val="EEF5EE"/>
          </a:solidFill>
          <a:ln w="6350">
            <a:solidFill>
              <a:srgbClr val="E0E0E0"/>
            </a:solidFill>
            <a:prstDash val="solid"/>
          </a:ln>
        </p:spPr>
      </p:sp>
      <p:sp>
        <p:nvSpPr>
          <p:cNvPr id="49" name="Shape 47"/>
          <p:cNvSpPr/>
          <p:nvPr/>
        </p:nvSpPr>
        <p:spPr>
          <a:xfrm>
            <a:off x="347472" y="4370832"/>
            <a:ext cx="256032" cy="256032"/>
          </a:xfrm>
          <a:prstGeom prst="ellipse">
            <a:avLst/>
          </a:prstGeom>
          <a:solidFill>
            <a:srgbClr val="4A7C59"/>
          </a:solidFill>
          <a:ln w="12700">
            <a:solidFill>
              <a:srgbClr val="4A7C59"/>
            </a:solidFill>
            <a:prstDash val="solid"/>
          </a:ln>
        </p:spPr>
      </p:sp>
      <p:sp>
        <p:nvSpPr>
          <p:cNvPr id="50" name="Text 48"/>
          <p:cNvSpPr/>
          <p:nvPr/>
        </p:nvSpPr>
        <p:spPr>
          <a:xfrm>
            <a:off x="347472" y="43708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51" name="Text 49"/>
          <p:cNvSpPr/>
          <p:nvPr/>
        </p:nvSpPr>
        <p:spPr>
          <a:xfrm>
            <a:off x="685800" y="4334256"/>
            <a:ext cx="2743200" cy="329184"/>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Plexiglass Enclosure</a:t>
            </a:r>
            <a:endParaRPr lang="en-US" sz="1100" dirty="0"/>
          </a:p>
        </p:txBody>
      </p:sp>
      <p:sp>
        <p:nvSpPr>
          <p:cNvPr id="52" name="Text 50"/>
          <p:cNvSpPr/>
          <p:nvPr/>
        </p:nvSpPr>
        <p:spPr>
          <a:xfrm>
            <a:off x="3474720" y="4334256"/>
            <a:ext cx="3474720" cy="329184"/>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Pre-built greenhouse shell for final assembly</a:t>
            </a:r>
            <a:endParaRPr lang="en-US" sz="1000" dirty="0"/>
          </a:p>
        </p:txBody>
      </p:sp>
      <p:sp>
        <p:nvSpPr>
          <p:cNvPr id="53" name="Text 51"/>
          <p:cNvSpPr/>
          <p:nvPr/>
        </p:nvSpPr>
        <p:spPr>
          <a:xfrm>
            <a:off x="6995160" y="4334256"/>
            <a:ext cx="1828800" cy="329184"/>
          </a:xfrm>
          <a:prstGeom prst="rect">
            <a:avLst/>
          </a:prstGeom>
          <a:noFill/>
          <a:ln/>
        </p:spPr>
        <p:txBody>
          <a:bodyPr wrap="square" lIns="0" tIns="0" rIns="0" bIns="0" rtlCol="0" anchor="ctr"/>
          <a:lstStyle/>
          <a:p>
            <a:pPr indent="0" marL="0">
              <a:buNone/>
            </a:pPr>
            <a:r>
              <a:rPr lang="en-US" sz="1000" dirty="0">
                <a:solidFill>
                  <a:srgbClr val="4A7C59"/>
                </a:solidFill>
                <a:latin typeface="Calibri" pitchFamily="34" charset="0"/>
                <a:ea typeface="Calibri" pitchFamily="34" charset="-122"/>
                <a:cs typeface="Calibri" pitchFamily="34" charset="-120"/>
              </a:rPr>
              <a:t>MicroLab provided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Wiring Reference</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Hardware Setup</a:t>
            </a:r>
            <a:endParaRPr lang="en-US" sz="1100" dirty="0"/>
          </a:p>
        </p:txBody>
      </p:sp>
      <p:sp>
        <p:nvSpPr>
          <p:cNvPr id="5" name="Text 3"/>
          <p:cNvSpPr/>
          <p:nvPr/>
        </p:nvSpPr>
        <p:spPr>
          <a:xfrm>
            <a:off x="365760" y="640080"/>
            <a:ext cx="8229600" cy="365760"/>
          </a:xfrm>
          <a:prstGeom prst="rect">
            <a:avLst/>
          </a:prstGeom>
          <a:noFill/>
          <a:ln/>
        </p:spPr>
        <p:txBody>
          <a:bodyPr wrap="square"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Pin Connections — ESP32 → Sensors</a:t>
            </a:r>
            <a:endParaRPr lang="en-US" sz="1500" dirty="0"/>
          </a:p>
        </p:txBody>
      </p:sp>
      <p:sp>
        <p:nvSpPr>
          <p:cNvPr id="6" name="Shape 4"/>
          <p:cNvSpPr/>
          <p:nvPr/>
        </p:nvSpPr>
        <p:spPr>
          <a:xfrm>
            <a:off x="274320" y="1051560"/>
            <a:ext cx="2926080" cy="320040"/>
          </a:xfrm>
          <a:prstGeom prst="rect">
            <a:avLst/>
          </a:prstGeom>
          <a:solidFill>
            <a:srgbClr val="1B3A2D"/>
          </a:solidFill>
          <a:ln w="12700">
            <a:solidFill>
              <a:srgbClr val="1B3A2D"/>
            </a:solidFill>
            <a:prstDash val="solid"/>
          </a:ln>
        </p:spPr>
      </p:sp>
      <p:sp>
        <p:nvSpPr>
          <p:cNvPr id="7" name="Text 5"/>
          <p:cNvSpPr/>
          <p:nvPr/>
        </p:nvSpPr>
        <p:spPr>
          <a:xfrm>
            <a:off x="365760" y="1051560"/>
            <a:ext cx="2834640" cy="320040"/>
          </a:xfrm>
          <a:prstGeom prst="rect">
            <a:avLst/>
          </a:prstGeom>
          <a:noFill/>
          <a:ln/>
        </p:spPr>
        <p:txBody>
          <a:bodyPr wrap="square" lIns="0" tIns="0" rIns="0" bIns="0" rtlCol="0" anchor="ctr"/>
          <a:lstStyle/>
          <a:p>
            <a:pPr indent="0" marL="0">
              <a:buNone/>
            </a:pPr>
            <a:r>
              <a:rPr lang="en-US" sz="1100" b="1" dirty="0">
                <a:solidFill>
                  <a:srgbClr val="97BC62"/>
                </a:solidFill>
                <a:latin typeface="Calibri" pitchFamily="34" charset="0"/>
                <a:ea typeface="Calibri" pitchFamily="34" charset="-122"/>
                <a:cs typeface="Calibri" pitchFamily="34" charset="-120"/>
              </a:rPr>
              <a:t>Component / Pin</a:t>
            </a:r>
            <a:endParaRPr lang="en-US" sz="1100" dirty="0"/>
          </a:p>
        </p:txBody>
      </p:sp>
      <p:sp>
        <p:nvSpPr>
          <p:cNvPr id="8" name="Shape 6"/>
          <p:cNvSpPr/>
          <p:nvPr/>
        </p:nvSpPr>
        <p:spPr>
          <a:xfrm>
            <a:off x="3246120" y="1051560"/>
            <a:ext cx="1828800" cy="320040"/>
          </a:xfrm>
          <a:prstGeom prst="rect">
            <a:avLst/>
          </a:prstGeom>
          <a:solidFill>
            <a:srgbClr val="1B3A2D"/>
          </a:solidFill>
          <a:ln w="12700">
            <a:solidFill>
              <a:srgbClr val="1B3A2D"/>
            </a:solidFill>
            <a:prstDash val="solid"/>
          </a:ln>
        </p:spPr>
      </p:sp>
      <p:sp>
        <p:nvSpPr>
          <p:cNvPr id="9" name="Text 7"/>
          <p:cNvSpPr/>
          <p:nvPr/>
        </p:nvSpPr>
        <p:spPr>
          <a:xfrm>
            <a:off x="3337560" y="1051560"/>
            <a:ext cx="1737360" cy="320040"/>
          </a:xfrm>
          <a:prstGeom prst="rect">
            <a:avLst/>
          </a:prstGeom>
          <a:noFill/>
          <a:ln/>
        </p:spPr>
        <p:txBody>
          <a:bodyPr wrap="square" lIns="0" tIns="0" rIns="0" bIns="0" rtlCol="0" anchor="ctr"/>
          <a:lstStyle/>
          <a:p>
            <a:pPr indent="0" marL="0">
              <a:buNone/>
            </a:pPr>
            <a:r>
              <a:rPr lang="en-US" sz="1100" b="1" dirty="0">
                <a:solidFill>
                  <a:srgbClr val="97BC62"/>
                </a:solidFill>
                <a:latin typeface="Calibri" pitchFamily="34" charset="0"/>
                <a:ea typeface="Calibri" pitchFamily="34" charset="-122"/>
                <a:cs typeface="Calibri" pitchFamily="34" charset="-120"/>
              </a:rPr>
              <a:t>GPIO</a:t>
            </a:r>
            <a:endParaRPr lang="en-US" sz="1100" dirty="0"/>
          </a:p>
        </p:txBody>
      </p:sp>
      <p:sp>
        <p:nvSpPr>
          <p:cNvPr id="10" name="Shape 8"/>
          <p:cNvSpPr/>
          <p:nvPr/>
        </p:nvSpPr>
        <p:spPr>
          <a:xfrm>
            <a:off x="5120640" y="1051560"/>
            <a:ext cx="4023360" cy="320040"/>
          </a:xfrm>
          <a:prstGeom prst="rect">
            <a:avLst/>
          </a:prstGeom>
          <a:solidFill>
            <a:srgbClr val="1B3A2D"/>
          </a:solidFill>
          <a:ln w="12700">
            <a:solidFill>
              <a:srgbClr val="1B3A2D"/>
            </a:solidFill>
            <a:prstDash val="solid"/>
          </a:ln>
        </p:spPr>
      </p:sp>
      <p:sp>
        <p:nvSpPr>
          <p:cNvPr id="11" name="Text 9"/>
          <p:cNvSpPr/>
          <p:nvPr/>
        </p:nvSpPr>
        <p:spPr>
          <a:xfrm>
            <a:off x="5212080" y="1051560"/>
            <a:ext cx="3931920" cy="320040"/>
          </a:xfrm>
          <a:prstGeom prst="rect">
            <a:avLst/>
          </a:prstGeom>
          <a:noFill/>
          <a:ln/>
        </p:spPr>
        <p:txBody>
          <a:bodyPr wrap="square" lIns="0" tIns="0" rIns="0" bIns="0" rtlCol="0" anchor="ctr"/>
          <a:lstStyle/>
          <a:p>
            <a:pPr indent="0" marL="0">
              <a:buNone/>
            </a:pPr>
            <a:r>
              <a:rPr lang="en-US" sz="1100" b="1" dirty="0">
                <a:solidFill>
                  <a:srgbClr val="97BC62"/>
                </a:solidFill>
                <a:latin typeface="Calibri" pitchFamily="34" charset="0"/>
                <a:ea typeface="Calibri" pitchFamily="34" charset="-122"/>
                <a:cs typeface="Calibri" pitchFamily="34" charset="-120"/>
              </a:rPr>
              <a:t>Notes</a:t>
            </a:r>
            <a:endParaRPr lang="en-US" sz="1100" dirty="0"/>
          </a:p>
        </p:txBody>
      </p:sp>
      <p:sp>
        <p:nvSpPr>
          <p:cNvPr id="12" name="Shape 10"/>
          <p:cNvSpPr/>
          <p:nvPr/>
        </p:nvSpPr>
        <p:spPr>
          <a:xfrm>
            <a:off x="274320" y="1417320"/>
            <a:ext cx="2926080" cy="347472"/>
          </a:xfrm>
          <a:prstGeom prst="rect">
            <a:avLst/>
          </a:prstGeom>
          <a:solidFill>
            <a:srgbClr val="2C5F2D"/>
          </a:solidFill>
          <a:ln w="12700">
            <a:solidFill>
              <a:srgbClr val="2C5F2D"/>
            </a:solidFill>
            <a:prstDash val="solid"/>
          </a:ln>
        </p:spPr>
      </p:sp>
      <p:sp>
        <p:nvSpPr>
          <p:cNvPr id="13" name="Text 11"/>
          <p:cNvSpPr/>
          <p:nvPr/>
        </p:nvSpPr>
        <p:spPr>
          <a:xfrm>
            <a:off x="365760" y="1417320"/>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DHT11 — Data</a:t>
            </a:r>
            <a:endParaRPr lang="en-US" sz="1100" dirty="0"/>
          </a:p>
        </p:txBody>
      </p:sp>
      <p:sp>
        <p:nvSpPr>
          <p:cNvPr id="14" name="Shape 12"/>
          <p:cNvSpPr/>
          <p:nvPr/>
        </p:nvSpPr>
        <p:spPr>
          <a:xfrm>
            <a:off x="3246120" y="1417320"/>
            <a:ext cx="1828800" cy="347472"/>
          </a:xfrm>
          <a:prstGeom prst="rect">
            <a:avLst/>
          </a:prstGeom>
          <a:solidFill>
            <a:srgbClr val="4A7C59"/>
          </a:solidFill>
          <a:ln w="12700">
            <a:solidFill>
              <a:srgbClr val="4A7C59"/>
            </a:solidFill>
            <a:prstDash val="solid"/>
          </a:ln>
        </p:spPr>
      </p:sp>
      <p:sp>
        <p:nvSpPr>
          <p:cNvPr id="15" name="Text 13"/>
          <p:cNvSpPr/>
          <p:nvPr/>
        </p:nvSpPr>
        <p:spPr>
          <a:xfrm>
            <a:off x="3246120" y="1417320"/>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GPIO 4</a:t>
            </a:r>
            <a:endParaRPr lang="en-US" sz="1100" dirty="0"/>
          </a:p>
        </p:txBody>
      </p:sp>
      <p:sp>
        <p:nvSpPr>
          <p:cNvPr id="16" name="Shape 14"/>
          <p:cNvSpPr/>
          <p:nvPr/>
        </p:nvSpPr>
        <p:spPr>
          <a:xfrm>
            <a:off x="5120640" y="1417320"/>
            <a:ext cx="4023360" cy="347472"/>
          </a:xfrm>
          <a:prstGeom prst="rect">
            <a:avLst/>
          </a:prstGeom>
          <a:solidFill>
            <a:srgbClr val="EEF5EE"/>
          </a:solidFill>
          <a:ln w="12700">
            <a:solidFill>
              <a:srgbClr val="D0D0D0"/>
            </a:solidFill>
            <a:prstDash val="solid"/>
          </a:ln>
        </p:spPr>
      </p:sp>
      <p:sp>
        <p:nvSpPr>
          <p:cNvPr id="17" name="Text 15"/>
          <p:cNvSpPr/>
          <p:nvPr/>
        </p:nvSpPr>
        <p:spPr>
          <a:xfrm>
            <a:off x="5212080" y="1417320"/>
            <a:ext cx="3840480" cy="34747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10kΩ pull-up to 3.3V recommended</a:t>
            </a:r>
            <a:endParaRPr lang="en-US" sz="1000" dirty="0"/>
          </a:p>
        </p:txBody>
      </p:sp>
      <p:sp>
        <p:nvSpPr>
          <p:cNvPr id="18" name="Shape 16"/>
          <p:cNvSpPr/>
          <p:nvPr/>
        </p:nvSpPr>
        <p:spPr>
          <a:xfrm>
            <a:off x="274320" y="1769364"/>
            <a:ext cx="2926080" cy="347472"/>
          </a:xfrm>
          <a:prstGeom prst="rect">
            <a:avLst/>
          </a:prstGeom>
          <a:solidFill>
            <a:srgbClr val="2C5F2D"/>
          </a:solidFill>
          <a:ln w="12700">
            <a:solidFill>
              <a:srgbClr val="2C5F2D"/>
            </a:solidFill>
            <a:prstDash val="solid"/>
          </a:ln>
        </p:spPr>
      </p:sp>
      <p:sp>
        <p:nvSpPr>
          <p:cNvPr id="19" name="Text 17"/>
          <p:cNvSpPr/>
          <p:nvPr/>
        </p:nvSpPr>
        <p:spPr>
          <a:xfrm>
            <a:off x="365760" y="1769364"/>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DHT11 — VCC</a:t>
            </a:r>
            <a:endParaRPr lang="en-US" sz="1100" dirty="0"/>
          </a:p>
        </p:txBody>
      </p:sp>
      <p:sp>
        <p:nvSpPr>
          <p:cNvPr id="20" name="Shape 18"/>
          <p:cNvSpPr/>
          <p:nvPr/>
        </p:nvSpPr>
        <p:spPr>
          <a:xfrm>
            <a:off x="3246120" y="1769364"/>
            <a:ext cx="1828800" cy="347472"/>
          </a:xfrm>
          <a:prstGeom prst="rect">
            <a:avLst/>
          </a:prstGeom>
          <a:solidFill>
            <a:srgbClr val="4A7C59"/>
          </a:solidFill>
          <a:ln w="12700">
            <a:solidFill>
              <a:srgbClr val="4A7C59"/>
            </a:solidFill>
            <a:prstDash val="solid"/>
          </a:ln>
        </p:spPr>
      </p:sp>
      <p:sp>
        <p:nvSpPr>
          <p:cNvPr id="21" name="Text 19"/>
          <p:cNvSpPr/>
          <p:nvPr/>
        </p:nvSpPr>
        <p:spPr>
          <a:xfrm>
            <a:off x="3246120" y="1769364"/>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3.3V</a:t>
            </a:r>
            <a:endParaRPr lang="en-US" sz="1100" dirty="0"/>
          </a:p>
        </p:txBody>
      </p:sp>
      <p:sp>
        <p:nvSpPr>
          <p:cNvPr id="22" name="Shape 20"/>
          <p:cNvSpPr/>
          <p:nvPr/>
        </p:nvSpPr>
        <p:spPr>
          <a:xfrm>
            <a:off x="5120640" y="1769364"/>
            <a:ext cx="4023360" cy="347472"/>
          </a:xfrm>
          <a:prstGeom prst="rect">
            <a:avLst/>
          </a:prstGeom>
          <a:solidFill>
            <a:srgbClr val="EEF5EE"/>
          </a:solidFill>
          <a:ln w="12700">
            <a:solidFill>
              <a:srgbClr val="D0D0D0"/>
            </a:solidFill>
            <a:prstDash val="solid"/>
          </a:ln>
        </p:spPr>
      </p:sp>
      <p:sp>
        <p:nvSpPr>
          <p:cNvPr id="23" name="Text 21"/>
          <p:cNvSpPr/>
          <p:nvPr/>
        </p:nvSpPr>
        <p:spPr>
          <a:xfrm>
            <a:off x="5212080" y="1769364"/>
            <a:ext cx="3840480" cy="347472"/>
          </a:xfrm>
          <a:prstGeom prst="rect">
            <a:avLst/>
          </a:prstGeom>
          <a:noFill/>
          <a:ln/>
        </p:spPr>
        <p:txBody>
          <a:bodyPr wrap="square" lIns="0" tIns="0" rIns="0" bIns="0" rtlCol="0" anchor="ctr"/>
          <a:lstStyle/>
          <a:p>
            <a:pPr indent="0" marL="0">
              <a:buNone/>
            </a:pPr>
            <a:endParaRPr lang="en-US" sz="1000" dirty="0"/>
          </a:p>
        </p:txBody>
      </p:sp>
      <p:sp>
        <p:nvSpPr>
          <p:cNvPr id="24" name="Shape 22"/>
          <p:cNvSpPr/>
          <p:nvPr/>
        </p:nvSpPr>
        <p:spPr>
          <a:xfrm>
            <a:off x="274320" y="2121408"/>
            <a:ext cx="2926080" cy="347472"/>
          </a:xfrm>
          <a:prstGeom prst="rect">
            <a:avLst/>
          </a:prstGeom>
          <a:solidFill>
            <a:srgbClr val="2C5F2D"/>
          </a:solidFill>
          <a:ln w="12700">
            <a:solidFill>
              <a:srgbClr val="2C5F2D"/>
            </a:solidFill>
            <a:prstDash val="solid"/>
          </a:ln>
        </p:spPr>
      </p:sp>
      <p:sp>
        <p:nvSpPr>
          <p:cNvPr id="25" name="Text 23"/>
          <p:cNvSpPr/>
          <p:nvPr/>
        </p:nvSpPr>
        <p:spPr>
          <a:xfrm>
            <a:off x="365760" y="2121408"/>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DHT11 — GND</a:t>
            </a:r>
            <a:endParaRPr lang="en-US" sz="1100" dirty="0"/>
          </a:p>
        </p:txBody>
      </p:sp>
      <p:sp>
        <p:nvSpPr>
          <p:cNvPr id="26" name="Shape 24"/>
          <p:cNvSpPr/>
          <p:nvPr/>
        </p:nvSpPr>
        <p:spPr>
          <a:xfrm>
            <a:off x="3246120" y="2121408"/>
            <a:ext cx="1828800" cy="347472"/>
          </a:xfrm>
          <a:prstGeom prst="rect">
            <a:avLst/>
          </a:prstGeom>
          <a:solidFill>
            <a:srgbClr val="4A7C59"/>
          </a:solidFill>
          <a:ln w="12700">
            <a:solidFill>
              <a:srgbClr val="4A7C59"/>
            </a:solidFill>
            <a:prstDash val="solid"/>
          </a:ln>
        </p:spPr>
      </p:sp>
      <p:sp>
        <p:nvSpPr>
          <p:cNvPr id="27" name="Text 25"/>
          <p:cNvSpPr/>
          <p:nvPr/>
        </p:nvSpPr>
        <p:spPr>
          <a:xfrm>
            <a:off x="3246120" y="2121408"/>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GND</a:t>
            </a:r>
            <a:endParaRPr lang="en-US" sz="1100" dirty="0"/>
          </a:p>
        </p:txBody>
      </p:sp>
      <p:sp>
        <p:nvSpPr>
          <p:cNvPr id="28" name="Shape 26"/>
          <p:cNvSpPr/>
          <p:nvPr/>
        </p:nvSpPr>
        <p:spPr>
          <a:xfrm>
            <a:off x="5120640" y="2121408"/>
            <a:ext cx="4023360" cy="347472"/>
          </a:xfrm>
          <a:prstGeom prst="rect">
            <a:avLst/>
          </a:prstGeom>
          <a:solidFill>
            <a:srgbClr val="EEF5EE"/>
          </a:solidFill>
          <a:ln w="12700">
            <a:solidFill>
              <a:srgbClr val="D0D0D0"/>
            </a:solidFill>
            <a:prstDash val="solid"/>
          </a:ln>
        </p:spPr>
      </p:sp>
      <p:sp>
        <p:nvSpPr>
          <p:cNvPr id="29" name="Text 27"/>
          <p:cNvSpPr/>
          <p:nvPr/>
        </p:nvSpPr>
        <p:spPr>
          <a:xfrm>
            <a:off x="5212080" y="2121408"/>
            <a:ext cx="3840480" cy="347472"/>
          </a:xfrm>
          <a:prstGeom prst="rect">
            <a:avLst/>
          </a:prstGeom>
          <a:noFill/>
          <a:ln/>
        </p:spPr>
        <p:txBody>
          <a:bodyPr wrap="square" lIns="0" tIns="0" rIns="0" bIns="0" rtlCol="0" anchor="ctr"/>
          <a:lstStyle/>
          <a:p>
            <a:pPr indent="0" marL="0">
              <a:buNone/>
            </a:pPr>
            <a:endParaRPr lang="en-US" sz="1000" dirty="0"/>
          </a:p>
        </p:txBody>
      </p:sp>
      <p:sp>
        <p:nvSpPr>
          <p:cNvPr id="30" name="Shape 28"/>
          <p:cNvSpPr/>
          <p:nvPr/>
        </p:nvSpPr>
        <p:spPr>
          <a:xfrm>
            <a:off x="274320" y="2473452"/>
            <a:ext cx="2926080" cy="347472"/>
          </a:xfrm>
          <a:prstGeom prst="rect">
            <a:avLst/>
          </a:prstGeom>
          <a:solidFill>
            <a:srgbClr val="2C5F2D"/>
          </a:solidFill>
          <a:ln w="12700">
            <a:solidFill>
              <a:srgbClr val="2C5F2D"/>
            </a:solidFill>
            <a:prstDash val="solid"/>
          </a:ln>
        </p:spPr>
      </p:sp>
      <p:sp>
        <p:nvSpPr>
          <p:cNvPr id="31" name="Text 29"/>
          <p:cNvSpPr/>
          <p:nvPr/>
        </p:nvSpPr>
        <p:spPr>
          <a:xfrm>
            <a:off x="365760" y="2473452"/>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Moisture — AOUT</a:t>
            </a:r>
            <a:endParaRPr lang="en-US" sz="1100" dirty="0"/>
          </a:p>
        </p:txBody>
      </p:sp>
      <p:sp>
        <p:nvSpPr>
          <p:cNvPr id="32" name="Shape 30"/>
          <p:cNvSpPr/>
          <p:nvPr/>
        </p:nvSpPr>
        <p:spPr>
          <a:xfrm>
            <a:off x="3246120" y="2473452"/>
            <a:ext cx="1828800" cy="347472"/>
          </a:xfrm>
          <a:prstGeom prst="rect">
            <a:avLst/>
          </a:prstGeom>
          <a:solidFill>
            <a:srgbClr val="4A7C59"/>
          </a:solidFill>
          <a:ln w="12700">
            <a:solidFill>
              <a:srgbClr val="4A7C59"/>
            </a:solidFill>
            <a:prstDash val="solid"/>
          </a:ln>
        </p:spPr>
      </p:sp>
      <p:sp>
        <p:nvSpPr>
          <p:cNvPr id="33" name="Text 31"/>
          <p:cNvSpPr/>
          <p:nvPr/>
        </p:nvSpPr>
        <p:spPr>
          <a:xfrm>
            <a:off x="3246120" y="2473452"/>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GPIO 32</a:t>
            </a:r>
            <a:endParaRPr lang="en-US" sz="1100" dirty="0"/>
          </a:p>
        </p:txBody>
      </p:sp>
      <p:sp>
        <p:nvSpPr>
          <p:cNvPr id="34" name="Shape 32"/>
          <p:cNvSpPr/>
          <p:nvPr/>
        </p:nvSpPr>
        <p:spPr>
          <a:xfrm>
            <a:off x="5120640" y="2473452"/>
            <a:ext cx="4023360" cy="347472"/>
          </a:xfrm>
          <a:prstGeom prst="rect">
            <a:avLst/>
          </a:prstGeom>
          <a:solidFill>
            <a:srgbClr val="EEF5EE"/>
          </a:solidFill>
          <a:ln w="12700">
            <a:solidFill>
              <a:srgbClr val="D0D0D0"/>
            </a:solidFill>
            <a:prstDash val="solid"/>
          </a:ln>
        </p:spPr>
      </p:sp>
      <p:sp>
        <p:nvSpPr>
          <p:cNvPr id="35" name="Text 33"/>
          <p:cNvSpPr/>
          <p:nvPr/>
        </p:nvSpPr>
        <p:spPr>
          <a:xfrm>
            <a:off x="5212080" y="2473452"/>
            <a:ext cx="3840480" cy="34747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Confirmed best ADC pin on this board</a:t>
            </a:r>
            <a:endParaRPr lang="en-US" sz="1000" dirty="0"/>
          </a:p>
        </p:txBody>
      </p:sp>
      <p:sp>
        <p:nvSpPr>
          <p:cNvPr id="36" name="Shape 34"/>
          <p:cNvSpPr/>
          <p:nvPr/>
        </p:nvSpPr>
        <p:spPr>
          <a:xfrm>
            <a:off x="274320" y="2825496"/>
            <a:ext cx="2926080" cy="347472"/>
          </a:xfrm>
          <a:prstGeom prst="rect">
            <a:avLst/>
          </a:prstGeom>
          <a:solidFill>
            <a:srgbClr val="2C5F2D"/>
          </a:solidFill>
          <a:ln w="12700">
            <a:solidFill>
              <a:srgbClr val="2C5F2D"/>
            </a:solidFill>
            <a:prstDash val="solid"/>
          </a:ln>
        </p:spPr>
      </p:sp>
      <p:sp>
        <p:nvSpPr>
          <p:cNvPr id="37" name="Text 35"/>
          <p:cNvSpPr/>
          <p:nvPr/>
        </p:nvSpPr>
        <p:spPr>
          <a:xfrm>
            <a:off x="365760" y="2825496"/>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Moisture — VCC</a:t>
            </a:r>
            <a:endParaRPr lang="en-US" sz="1100" dirty="0"/>
          </a:p>
        </p:txBody>
      </p:sp>
      <p:sp>
        <p:nvSpPr>
          <p:cNvPr id="38" name="Shape 36"/>
          <p:cNvSpPr/>
          <p:nvPr/>
        </p:nvSpPr>
        <p:spPr>
          <a:xfrm>
            <a:off x="3246120" y="2825496"/>
            <a:ext cx="1828800" cy="347472"/>
          </a:xfrm>
          <a:prstGeom prst="rect">
            <a:avLst/>
          </a:prstGeom>
          <a:solidFill>
            <a:srgbClr val="4A7C59"/>
          </a:solidFill>
          <a:ln w="12700">
            <a:solidFill>
              <a:srgbClr val="4A7C59"/>
            </a:solidFill>
            <a:prstDash val="solid"/>
          </a:ln>
        </p:spPr>
      </p:sp>
      <p:sp>
        <p:nvSpPr>
          <p:cNvPr id="39" name="Text 37"/>
          <p:cNvSpPr/>
          <p:nvPr/>
        </p:nvSpPr>
        <p:spPr>
          <a:xfrm>
            <a:off x="3246120" y="2825496"/>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5V (VIN)</a:t>
            </a:r>
            <a:endParaRPr lang="en-US" sz="1100" dirty="0"/>
          </a:p>
        </p:txBody>
      </p:sp>
      <p:sp>
        <p:nvSpPr>
          <p:cNvPr id="40" name="Shape 38"/>
          <p:cNvSpPr/>
          <p:nvPr/>
        </p:nvSpPr>
        <p:spPr>
          <a:xfrm>
            <a:off x="5120640" y="2825496"/>
            <a:ext cx="4023360" cy="347472"/>
          </a:xfrm>
          <a:prstGeom prst="rect">
            <a:avLst/>
          </a:prstGeom>
          <a:solidFill>
            <a:srgbClr val="EEF5EE"/>
          </a:solidFill>
          <a:ln w="12700">
            <a:solidFill>
              <a:srgbClr val="D0D0D0"/>
            </a:solidFill>
            <a:prstDash val="solid"/>
          </a:ln>
        </p:spPr>
      </p:sp>
      <p:sp>
        <p:nvSpPr>
          <p:cNvPr id="41" name="Text 39"/>
          <p:cNvSpPr/>
          <p:nvPr/>
        </p:nvSpPr>
        <p:spPr>
          <a:xfrm>
            <a:off x="5212080" y="2825496"/>
            <a:ext cx="3840480" cy="34747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Sensor requires 5V for proper output</a:t>
            </a:r>
            <a:endParaRPr lang="en-US" sz="1000" dirty="0"/>
          </a:p>
        </p:txBody>
      </p:sp>
      <p:sp>
        <p:nvSpPr>
          <p:cNvPr id="42" name="Shape 40"/>
          <p:cNvSpPr/>
          <p:nvPr/>
        </p:nvSpPr>
        <p:spPr>
          <a:xfrm>
            <a:off x="274320" y="3177540"/>
            <a:ext cx="2926080" cy="347472"/>
          </a:xfrm>
          <a:prstGeom prst="rect">
            <a:avLst/>
          </a:prstGeom>
          <a:solidFill>
            <a:srgbClr val="2C5F2D"/>
          </a:solidFill>
          <a:ln w="12700">
            <a:solidFill>
              <a:srgbClr val="2C5F2D"/>
            </a:solidFill>
            <a:prstDash val="solid"/>
          </a:ln>
        </p:spPr>
      </p:sp>
      <p:sp>
        <p:nvSpPr>
          <p:cNvPr id="43" name="Text 41"/>
          <p:cNvSpPr/>
          <p:nvPr/>
        </p:nvSpPr>
        <p:spPr>
          <a:xfrm>
            <a:off x="365760" y="3177540"/>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Moisture — GND</a:t>
            </a:r>
            <a:endParaRPr lang="en-US" sz="1100" dirty="0"/>
          </a:p>
        </p:txBody>
      </p:sp>
      <p:sp>
        <p:nvSpPr>
          <p:cNvPr id="44" name="Shape 42"/>
          <p:cNvSpPr/>
          <p:nvPr/>
        </p:nvSpPr>
        <p:spPr>
          <a:xfrm>
            <a:off x="3246120" y="3177540"/>
            <a:ext cx="1828800" cy="347472"/>
          </a:xfrm>
          <a:prstGeom prst="rect">
            <a:avLst/>
          </a:prstGeom>
          <a:solidFill>
            <a:srgbClr val="4A7C59"/>
          </a:solidFill>
          <a:ln w="12700">
            <a:solidFill>
              <a:srgbClr val="4A7C59"/>
            </a:solidFill>
            <a:prstDash val="solid"/>
          </a:ln>
        </p:spPr>
      </p:sp>
      <p:sp>
        <p:nvSpPr>
          <p:cNvPr id="45" name="Text 43"/>
          <p:cNvSpPr/>
          <p:nvPr/>
        </p:nvSpPr>
        <p:spPr>
          <a:xfrm>
            <a:off x="3246120" y="3177540"/>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GND</a:t>
            </a:r>
            <a:endParaRPr lang="en-US" sz="1100" dirty="0"/>
          </a:p>
        </p:txBody>
      </p:sp>
      <p:sp>
        <p:nvSpPr>
          <p:cNvPr id="46" name="Shape 44"/>
          <p:cNvSpPr/>
          <p:nvPr/>
        </p:nvSpPr>
        <p:spPr>
          <a:xfrm>
            <a:off x="5120640" y="3177540"/>
            <a:ext cx="4023360" cy="347472"/>
          </a:xfrm>
          <a:prstGeom prst="rect">
            <a:avLst/>
          </a:prstGeom>
          <a:solidFill>
            <a:srgbClr val="EEF5EE"/>
          </a:solidFill>
          <a:ln w="12700">
            <a:solidFill>
              <a:srgbClr val="D0D0D0"/>
            </a:solidFill>
            <a:prstDash val="solid"/>
          </a:ln>
        </p:spPr>
      </p:sp>
      <p:sp>
        <p:nvSpPr>
          <p:cNvPr id="47" name="Text 45"/>
          <p:cNvSpPr/>
          <p:nvPr/>
        </p:nvSpPr>
        <p:spPr>
          <a:xfrm>
            <a:off x="5212080" y="3177540"/>
            <a:ext cx="3840480" cy="347472"/>
          </a:xfrm>
          <a:prstGeom prst="rect">
            <a:avLst/>
          </a:prstGeom>
          <a:noFill/>
          <a:ln/>
        </p:spPr>
        <p:txBody>
          <a:bodyPr wrap="square" lIns="0" tIns="0" rIns="0" bIns="0" rtlCol="0" anchor="ctr"/>
          <a:lstStyle/>
          <a:p>
            <a:pPr indent="0" marL="0">
              <a:buNone/>
            </a:pPr>
            <a:endParaRPr lang="en-US" sz="1000" dirty="0"/>
          </a:p>
        </p:txBody>
      </p:sp>
      <p:sp>
        <p:nvSpPr>
          <p:cNvPr id="48" name="Shape 46"/>
          <p:cNvSpPr/>
          <p:nvPr/>
        </p:nvSpPr>
        <p:spPr>
          <a:xfrm>
            <a:off x="274320" y="3529584"/>
            <a:ext cx="2926080" cy="347472"/>
          </a:xfrm>
          <a:prstGeom prst="rect">
            <a:avLst/>
          </a:prstGeom>
          <a:solidFill>
            <a:srgbClr val="2C5F2D"/>
          </a:solidFill>
          <a:ln w="12700">
            <a:solidFill>
              <a:srgbClr val="2C5F2D"/>
            </a:solidFill>
            <a:prstDash val="solid"/>
          </a:ln>
        </p:spPr>
      </p:sp>
      <p:sp>
        <p:nvSpPr>
          <p:cNvPr id="49" name="Text 47"/>
          <p:cNvSpPr/>
          <p:nvPr/>
        </p:nvSpPr>
        <p:spPr>
          <a:xfrm>
            <a:off x="365760" y="3529584"/>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OLED #1 SDA (Temp/Hum)</a:t>
            </a:r>
            <a:endParaRPr lang="en-US" sz="1100" dirty="0"/>
          </a:p>
        </p:txBody>
      </p:sp>
      <p:sp>
        <p:nvSpPr>
          <p:cNvPr id="50" name="Shape 48"/>
          <p:cNvSpPr/>
          <p:nvPr/>
        </p:nvSpPr>
        <p:spPr>
          <a:xfrm>
            <a:off x="3246120" y="3529584"/>
            <a:ext cx="1828800" cy="347472"/>
          </a:xfrm>
          <a:prstGeom prst="rect">
            <a:avLst/>
          </a:prstGeom>
          <a:solidFill>
            <a:srgbClr val="4A7C59"/>
          </a:solidFill>
          <a:ln w="12700">
            <a:solidFill>
              <a:srgbClr val="4A7C59"/>
            </a:solidFill>
            <a:prstDash val="solid"/>
          </a:ln>
        </p:spPr>
      </p:sp>
      <p:sp>
        <p:nvSpPr>
          <p:cNvPr id="51" name="Text 49"/>
          <p:cNvSpPr/>
          <p:nvPr/>
        </p:nvSpPr>
        <p:spPr>
          <a:xfrm>
            <a:off x="3246120" y="3529584"/>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GPIO 21</a:t>
            </a:r>
            <a:endParaRPr lang="en-US" sz="1100" dirty="0"/>
          </a:p>
        </p:txBody>
      </p:sp>
      <p:sp>
        <p:nvSpPr>
          <p:cNvPr id="52" name="Shape 50"/>
          <p:cNvSpPr/>
          <p:nvPr/>
        </p:nvSpPr>
        <p:spPr>
          <a:xfrm>
            <a:off x="5120640" y="3529584"/>
            <a:ext cx="4023360" cy="347472"/>
          </a:xfrm>
          <a:prstGeom prst="rect">
            <a:avLst/>
          </a:prstGeom>
          <a:solidFill>
            <a:srgbClr val="EEF5EE"/>
          </a:solidFill>
          <a:ln w="12700">
            <a:solidFill>
              <a:srgbClr val="D0D0D0"/>
            </a:solidFill>
            <a:prstDash val="solid"/>
          </a:ln>
        </p:spPr>
      </p:sp>
      <p:sp>
        <p:nvSpPr>
          <p:cNvPr id="53" name="Text 51"/>
          <p:cNvSpPr/>
          <p:nvPr/>
        </p:nvSpPr>
        <p:spPr>
          <a:xfrm>
            <a:off x="5212080" y="3529584"/>
            <a:ext cx="3840480" cy="34747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I2C Bus 1</a:t>
            </a:r>
            <a:endParaRPr lang="en-US" sz="1000" dirty="0"/>
          </a:p>
        </p:txBody>
      </p:sp>
      <p:sp>
        <p:nvSpPr>
          <p:cNvPr id="54" name="Shape 52"/>
          <p:cNvSpPr/>
          <p:nvPr/>
        </p:nvSpPr>
        <p:spPr>
          <a:xfrm>
            <a:off x="274320" y="3881628"/>
            <a:ext cx="2926080" cy="347472"/>
          </a:xfrm>
          <a:prstGeom prst="rect">
            <a:avLst/>
          </a:prstGeom>
          <a:solidFill>
            <a:srgbClr val="2C5F2D"/>
          </a:solidFill>
          <a:ln w="12700">
            <a:solidFill>
              <a:srgbClr val="2C5F2D"/>
            </a:solidFill>
            <a:prstDash val="solid"/>
          </a:ln>
        </p:spPr>
      </p:sp>
      <p:sp>
        <p:nvSpPr>
          <p:cNvPr id="55" name="Text 53"/>
          <p:cNvSpPr/>
          <p:nvPr/>
        </p:nvSpPr>
        <p:spPr>
          <a:xfrm>
            <a:off x="365760" y="3881628"/>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OLED #1 SCL (Temp/Hum)</a:t>
            </a:r>
            <a:endParaRPr lang="en-US" sz="1100" dirty="0"/>
          </a:p>
        </p:txBody>
      </p:sp>
      <p:sp>
        <p:nvSpPr>
          <p:cNvPr id="56" name="Shape 54"/>
          <p:cNvSpPr/>
          <p:nvPr/>
        </p:nvSpPr>
        <p:spPr>
          <a:xfrm>
            <a:off x="3246120" y="3881628"/>
            <a:ext cx="1828800" cy="347472"/>
          </a:xfrm>
          <a:prstGeom prst="rect">
            <a:avLst/>
          </a:prstGeom>
          <a:solidFill>
            <a:srgbClr val="4A7C59"/>
          </a:solidFill>
          <a:ln w="12700">
            <a:solidFill>
              <a:srgbClr val="4A7C59"/>
            </a:solidFill>
            <a:prstDash val="solid"/>
          </a:ln>
        </p:spPr>
      </p:sp>
      <p:sp>
        <p:nvSpPr>
          <p:cNvPr id="57" name="Text 55"/>
          <p:cNvSpPr/>
          <p:nvPr/>
        </p:nvSpPr>
        <p:spPr>
          <a:xfrm>
            <a:off x="3246120" y="3881628"/>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GPIO 22</a:t>
            </a:r>
            <a:endParaRPr lang="en-US" sz="1100" dirty="0"/>
          </a:p>
        </p:txBody>
      </p:sp>
      <p:sp>
        <p:nvSpPr>
          <p:cNvPr id="58" name="Shape 56"/>
          <p:cNvSpPr/>
          <p:nvPr/>
        </p:nvSpPr>
        <p:spPr>
          <a:xfrm>
            <a:off x="5120640" y="3881628"/>
            <a:ext cx="4023360" cy="347472"/>
          </a:xfrm>
          <a:prstGeom prst="rect">
            <a:avLst/>
          </a:prstGeom>
          <a:solidFill>
            <a:srgbClr val="EEF5EE"/>
          </a:solidFill>
          <a:ln w="12700">
            <a:solidFill>
              <a:srgbClr val="D0D0D0"/>
            </a:solidFill>
            <a:prstDash val="solid"/>
          </a:ln>
        </p:spPr>
      </p:sp>
      <p:sp>
        <p:nvSpPr>
          <p:cNvPr id="59" name="Text 57"/>
          <p:cNvSpPr/>
          <p:nvPr/>
        </p:nvSpPr>
        <p:spPr>
          <a:xfrm>
            <a:off x="5212080" y="3881628"/>
            <a:ext cx="3840480" cy="34747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I2C Bus 1</a:t>
            </a:r>
            <a:endParaRPr lang="en-US" sz="1000" dirty="0"/>
          </a:p>
        </p:txBody>
      </p:sp>
      <p:sp>
        <p:nvSpPr>
          <p:cNvPr id="60" name="Shape 58"/>
          <p:cNvSpPr/>
          <p:nvPr/>
        </p:nvSpPr>
        <p:spPr>
          <a:xfrm>
            <a:off x="274320" y="4233672"/>
            <a:ext cx="2926080" cy="347472"/>
          </a:xfrm>
          <a:prstGeom prst="rect">
            <a:avLst/>
          </a:prstGeom>
          <a:solidFill>
            <a:srgbClr val="2C5F2D"/>
          </a:solidFill>
          <a:ln w="12700">
            <a:solidFill>
              <a:srgbClr val="2C5F2D"/>
            </a:solidFill>
            <a:prstDash val="solid"/>
          </a:ln>
        </p:spPr>
      </p:sp>
      <p:sp>
        <p:nvSpPr>
          <p:cNvPr id="61" name="Text 59"/>
          <p:cNvSpPr/>
          <p:nvPr/>
        </p:nvSpPr>
        <p:spPr>
          <a:xfrm>
            <a:off x="365760" y="4233672"/>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OLED #2 SDA (Moisture)</a:t>
            </a:r>
            <a:endParaRPr lang="en-US" sz="1100" dirty="0"/>
          </a:p>
        </p:txBody>
      </p:sp>
      <p:sp>
        <p:nvSpPr>
          <p:cNvPr id="62" name="Shape 60"/>
          <p:cNvSpPr/>
          <p:nvPr/>
        </p:nvSpPr>
        <p:spPr>
          <a:xfrm>
            <a:off x="3246120" y="4233672"/>
            <a:ext cx="1828800" cy="347472"/>
          </a:xfrm>
          <a:prstGeom prst="rect">
            <a:avLst/>
          </a:prstGeom>
          <a:solidFill>
            <a:srgbClr val="4A7C59"/>
          </a:solidFill>
          <a:ln w="12700">
            <a:solidFill>
              <a:srgbClr val="4A7C59"/>
            </a:solidFill>
            <a:prstDash val="solid"/>
          </a:ln>
        </p:spPr>
      </p:sp>
      <p:sp>
        <p:nvSpPr>
          <p:cNvPr id="63" name="Text 61"/>
          <p:cNvSpPr/>
          <p:nvPr/>
        </p:nvSpPr>
        <p:spPr>
          <a:xfrm>
            <a:off x="3246120" y="4233672"/>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GPIO 26</a:t>
            </a:r>
            <a:endParaRPr lang="en-US" sz="1100" dirty="0"/>
          </a:p>
        </p:txBody>
      </p:sp>
      <p:sp>
        <p:nvSpPr>
          <p:cNvPr id="64" name="Shape 62"/>
          <p:cNvSpPr/>
          <p:nvPr/>
        </p:nvSpPr>
        <p:spPr>
          <a:xfrm>
            <a:off x="5120640" y="4233672"/>
            <a:ext cx="4023360" cy="347472"/>
          </a:xfrm>
          <a:prstGeom prst="rect">
            <a:avLst/>
          </a:prstGeom>
          <a:solidFill>
            <a:srgbClr val="EEF5EE"/>
          </a:solidFill>
          <a:ln w="12700">
            <a:solidFill>
              <a:srgbClr val="D0D0D0"/>
            </a:solidFill>
            <a:prstDash val="solid"/>
          </a:ln>
        </p:spPr>
      </p:sp>
      <p:sp>
        <p:nvSpPr>
          <p:cNvPr id="65" name="Text 63"/>
          <p:cNvSpPr/>
          <p:nvPr/>
        </p:nvSpPr>
        <p:spPr>
          <a:xfrm>
            <a:off x="5212080" y="4233672"/>
            <a:ext cx="3840480" cy="34747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I2C Bus 2 (SoftI2C)</a:t>
            </a:r>
            <a:endParaRPr lang="en-US" sz="1000" dirty="0"/>
          </a:p>
        </p:txBody>
      </p:sp>
      <p:sp>
        <p:nvSpPr>
          <p:cNvPr id="66" name="Shape 64"/>
          <p:cNvSpPr/>
          <p:nvPr/>
        </p:nvSpPr>
        <p:spPr>
          <a:xfrm>
            <a:off x="274320" y="4585716"/>
            <a:ext cx="2926080" cy="347472"/>
          </a:xfrm>
          <a:prstGeom prst="rect">
            <a:avLst/>
          </a:prstGeom>
          <a:solidFill>
            <a:srgbClr val="2C5F2D"/>
          </a:solidFill>
          <a:ln w="12700">
            <a:solidFill>
              <a:srgbClr val="2C5F2D"/>
            </a:solidFill>
            <a:prstDash val="solid"/>
          </a:ln>
        </p:spPr>
      </p:sp>
      <p:sp>
        <p:nvSpPr>
          <p:cNvPr id="67" name="Text 65"/>
          <p:cNvSpPr/>
          <p:nvPr/>
        </p:nvSpPr>
        <p:spPr>
          <a:xfrm>
            <a:off x="365760" y="4585716"/>
            <a:ext cx="27432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OLED #2 SCL (Moisture)</a:t>
            </a:r>
            <a:endParaRPr lang="en-US" sz="1100" dirty="0"/>
          </a:p>
        </p:txBody>
      </p:sp>
      <p:sp>
        <p:nvSpPr>
          <p:cNvPr id="68" name="Shape 66"/>
          <p:cNvSpPr/>
          <p:nvPr/>
        </p:nvSpPr>
        <p:spPr>
          <a:xfrm>
            <a:off x="3246120" y="4585716"/>
            <a:ext cx="1828800" cy="347472"/>
          </a:xfrm>
          <a:prstGeom prst="rect">
            <a:avLst/>
          </a:prstGeom>
          <a:solidFill>
            <a:srgbClr val="4A7C59"/>
          </a:solidFill>
          <a:ln w="12700">
            <a:solidFill>
              <a:srgbClr val="4A7C59"/>
            </a:solidFill>
            <a:prstDash val="solid"/>
          </a:ln>
        </p:spPr>
      </p:sp>
      <p:sp>
        <p:nvSpPr>
          <p:cNvPr id="69" name="Text 67"/>
          <p:cNvSpPr/>
          <p:nvPr/>
        </p:nvSpPr>
        <p:spPr>
          <a:xfrm>
            <a:off x="3246120" y="4585716"/>
            <a:ext cx="18288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onsolas" pitchFamily="34" charset="0"/>
                <a:ea typeface="Consolas" pitchFamily="34" charset="-122"/>
                <a:cs typeface="Consolas" pitchFamily="34" charset="-120"/>
              </a:rPr>
              <a:t>GPIO 27</a:t>
            </a:r>
            <a:endParaRPr lang="en-US" sz="1100" dirty="0"/>
          </a:p>
        </p:txBody>
      </p:sp>
      <p:sp>
        <p:nvSpPr>
          <p:cNvPr id="70" name="Shape 68"/>
          <p:cNvSpPr/>
          <p:nvPr/>
        </p:nvSpPr>
        <p:spPr>
          <a:xfrm>
            <a:off x="5120640" y="4585716"/>
            <a:ext cx="4023360" cy="347472"/>
          </a:xfrm>
          <a:prstGeom prst="rect">
            <a:avLst/>
          </a:prstGeom>
          <a:solidFill>
            <a:srgbClr val="EEF5EE"/>
          </a:solidFill>
          <a:ln w="12700">
            <a:solidFill>
              <a:srgbClr val="D0D0D0"/>
            </a:solidFill>
            <a:prstDash val="solid"/>
          </a:ln>
        </p:spPr>
      </p:sp>
      <p:sp>
        <p:nvSpPr>
          <p:cNvPr id="71" name="Text 69"/>
          <p:cNvSpPr/>
          <p:nvPr/>
        </p:nvSpPr>
        <p:spPr>
          <a:xfrm>
            <a:off x="5212080" y="4585716"/>
            <a:ext cx="3840480" cy="34747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I2C Bus 2 (SoftI2C)</a:t>
            </a:r>
            <a:endParaRPr lang="en-US" sz="1000" dirty="0"/>
          </a:p>
        </p:txBody>
      </p:sp>
      <p:sp>
        <p:nvSpPr>
          <p:cNvPr id="72" name="Shape 70"/>
          <p:cNvSpPr/>
          <p:nvPr/>
        </p:nvSpPr>
        <p:spPr>
          <a:xfrm>
            <a:off x="274320" y="4800600"/>
            <a:ext cx="8595360" cy="256032"/>
          </a:xfrm>
          <a:prstGeom prst="rect">
            <a:avLst/>
          </a:prstGeom>
          <a:solidFill>
            <a:srgbClr val="FFF3E0"/>
          </a:solidFill>
          <a:ln w="12700">
            <a:solidFill>
              <a:srgbClr val="E8873A"/>
            </a:solidFill>
            <a:prstDash val="solid"/>
          </a:ln>
        </p:spPr>
      </p:sp>
      <p:sp>
        <p:nvSpPr>
          <p:cNvPr id="73" name="Text 71"/>
          <p:cNvSpPr/>
          <p:nvPr/>
        </p:nvSpPr>
        <p:spPr>
          <a:xfrm>
            <a:off x="457200" y="4800600"/>
            <a:ext cx="8229600" cy="256032"/>
          </a:xfrm>
          <a:prstGeom prst="rect">
            <a:avLst/>
          </a:prstGeom>
          <a:noFill/>
          <a:ln/>
        </p:spPr>
        <p:txBody>
          <a:bodyPr wrap="square" lIns="0" tIns="0" rIns="0" bIns="0" rtlCol="0" anchor="ctr"/>
          <a:lstStyle/>
          <a:p>
            <a:pPr indent="0" marL="0">
              <a:buNone/>
            </a:pPr>
            <a:r>
              <a:rPr lang="en-US" sz="1000" dirty="0">
                <a:solidFill>
                  <a:srgbClr val="E8873A"/>
                </a:solidFill>
                <a:latin typeface="Calibri" pitchFamily="34" charset="0"/>
                <a:ea typeface="Calibri" pitchFamily="34" charset="-122"/>
                <a:cs typeface="Calibri" pitchFamily="34" charset="-120"/>
              </a:rPr>
              <a:t>⚠  OLED #1 and OLED #2 must be on separate I2C buses — both have address 0x3C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2D"/>
          </a:solidFill>
          <a:ln w="12700">
            <a:solidFill>
              <a:srgbClr val="1B3A2D"/>
            </a:solidFill>
            <a:prstDash val="solid"/>
          </a:ln>
        </p:spPr>
      </p:sp>
      <p:sp>
        <p:nvSpPr>
          <p:cNvPr id="3" name="Shape 1"/>
          <p:cNvSpPr/>
          <p:nvPr/>
        </p:nvSpPr>
        <p:spPr>
          <a:xfrm>
            <a:off x="457200" y="1645920"/>
            <a:ext cx="73152" cy="1828800"/>
          </a:xfrm>
          <a:prstGeom prst="rect">
            <a:avLst/>
          </a:prstGeom>
          <a:solidFill>
            <a:srgbClr val="97BC62"/>
          </a:solidFill>
          <a:ln w="12700">
            <a:solidFill>
              <a:srgbClr val="97BC62"/>
            </a:solidFill>
            <a:prstDash val="solid"/>
          </a:ln>
        </p:spPr>
      </p:sp>
      <p:sp>
        <p:nvSpPr>
          <p:cNvPr id="4" name="Text 2"/>
          <p:cNvSpPr/>
          <p:nvPr/>
        </p:nvSpPr>
        <p:spPr>
          <a:xfrm>
            <a:off x="731520" y="1645920"/>
            <a:ext cx="7315200" cy="457200"/>
          </a:xfrm>
          <a:prstGeom prst="rect">
            <a:avLst/>
          </a:prstGeom>
          <a:noFill/>
          <a:ln/>
        </p:spPr>
        <p:txBody>
          <a:bodyPr wrap="square"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MODULE 1</a:t>
            </a:r>
            <a:endParaRPr lang="en-US" sz="1300" dirty="0"/>
          </a:p>
        </p:txBody>
      </p:sp>
      <p:sp>
        <p:nvSpPr>
          <p:cNvPr id="5" name="Text 3"/>
          <p:cNvSpPr/>
          <p:nvPr/>
        </p:nvSpPr>
        <p:spPr>
          <a:xfrm>
            <a:off x="731520" y="2103120"/>
            <a:ext cx="7772400" cy="9144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OLED Display #1</a:t>
            </a:r>
            <a:endParaRPr lang="en-US" sz="3600" dirty="0"/>
          </a:p>
        </p:txBody>
      </p:sp>
      <p:sp>
        <p:nvSpPr>
          <p:cNvPr id="6" name="Text 4"/>
          <p:cNvSpPr/>
          <p:nvPr/>
        </p:nvSpPr>
        <p:spPr>
          <a:xfrm>
            <a:off x="731520" y="3017520"/>
            <a:ext cx="6858000" cy="640080"/>
          </a:xfrm>
          <a:prstGeom prst="rect">
            <a:avLst/>
          </a:prstGeom>
          <a:noFill/>
          <a:ln/>
        </p:spPr>
        <p:txBody>
          <a:bodyPr wrap="square" rtlCol="0" anchor="ctr"/>
          <a:lstStyle/>
          <a:p>
            <a:pPr indent="0" marL="0">
              <a:buNone/>
            </a:pPr>
            <a:r>
              <a:rPr lang="en-US" sz="1600" i="1" dirty="0">
                <a:solidFill>
                  <a:srgbClr val="6B8F71"/>
                </a:solidFill>
                <a:latin typeface="Calibri" pitchFamily="34" charset="0"/>
                <a:ea typeface="Calibri" pitchFamily="34" charset="-122"/>
                <a:cs typeface="Calibri" pitchFamily="34" charset="-120"/>
              </a:rPr>
              <a:t>Temp / Humidity Display — I2C Bus 1 (SDA=21, SCL=22)</a:t>
            </a:r>
            <a:endParaRPr lang="en-US" sz="1600" dirty="0"/>
          </a:p>
        </p:txBody>
      </p:sp>
      <p:sp>
        <p:nvSpPr>
          <p:cNvPr id="7" name="Text 5"/>
          <p:cNvSpPr/>
          <p:nvPr/>
        </p:nvSpPr>
        <p:spPr>
          <a:xfrm>
            <a:off x="7772400" y="4480560"/>
            <a:ext cx="1097280" cy="365760"/>
          </a:xfrm>
          <a:prstGeom prst="rect">
            <a:avLst/>
          </a:prstGeom>
          <a:noFill/>
          <a:ln/>
        </p:spPr>
        <p:txBody>
          <a:bodyPr wrap="square" rtlCol="0" anchor="ctr"/>
          <a:lstStyle/>
          <a:p>
            <a:pPr algn="r" indent="0" marL="0">
              <a:buNone/>
            </a:pPr>
            <a:r>
              <a:rPr lang="en-US" sz="1100" dirty="0">
                <a:solidFill>
                  <a:srgbClr val="6B8F71"/>
                </a:solidFill>
              </a:rPr>
              <a:t>1 / 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Module 1 — OLED #1 Test</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Black Box Step 1 of 4</a:t>
            </a:r>
            <a:endParaRPr lang="en-US" sz="1100" dirty="0"/>
          </a:p>
        </p:txBody>
      </p:sp>
      <p:sp>
        <p:nvSpPr>
          <p:cNvPr id="5" name="Text 3"/>
          <p:cNvSpPr/>
          <p:nvPr/>
        </p:nvSpPr>
        <p:spPr>
          <a:xfrm>
            <a:off x="365760" y="640080"/>
            <a:ext cx="8412480" cy="365760"/>
          </a:xfrm>
          <a:prstGeom prst="rect">
            <a:avLst/>
          </a:prstGeom>
          <a:noFill/>
          <a:ln/>
        </p:spPr>
        <p:txBody>
          <a:bodyPr wrap="square" rtlCol="0" anchor="ctr"/>
          <a:lstStyle/>
          <a:p>
            <a:pPr indent="0" marL="0">
              <a:buNone/>
            </a:pPr>
            <a:r>
              <a:rPr lang="en-US" sz="1200" i="1" dirty="0">
                <a:solidFill>
                  <a:srgbClr val="1B2D1E"/>
                </a:solidFill>
                <a:latin typeface="Calibri" pitchFamily="34" charset="0"/>
                <a:ea typeface="Calibri" pitchFamily="34" charset="-122"/>
                <a:cs typeface="Calibri" pitchFamily="34" charset="-120"/>
              </a:rPr>
              <a:t>Objective: Confirm OLED #1 is detected and displays text before adding sensors.</a:t>
            </a:r>
            <a:endParaRPr lang="en-US" sz="1200" dirty="0"/>
          </a:p>
        </p:txBody>
      </p:sp>
      <p:sp>
        <p:nvSpPr>
          <p:cNvPr id="6" name="Text 4"/>
          <p:cNvSpPr/>
          <p:nvPr/>
        </p:nvSpPr>
        <p:spPr>
          <a:xfrm>
            <a:off x="365760" y="1051560"/>
            <a:ext cx="41148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Step 1 — I2C Scan</a:t>
            </a:r>
            <a:endParaRPr lang="en-US" sz="1300" dirty="0"/>
          </a:p>
        </p:txBody>
      </p:sp>
      <p:sp>
        <p:nvSpPr>
          <p:cNvPr id="7" name="Shape 5"/>
          <p:cNvSpPr/>
          <p:nvPr/>
        </p:nvSpPr>
        <p:spPr>
          <a:xfrm>
            <a:off x="274320" y="1371600"/>
            <a:ext cx="4206240" cy="1005840"/>
          </a:xfrm>
          <a:prstGeom prst="rect">
            <a:avLst/>
          </a:prstGeom>
          <a:solidFill>
            <a:srgbClr val="0D1117"/>
          </a:solidFill>
          <a:ln w="19050">
            <a:solidFill>
              <a:srgbClr val="4A7C59"/>
            </a:solidFill>
            <a:prstDash val="solid"/>
          </a:ln>
          <a:effectLst>
            <a:outerShdw sx="100000" sy="100000" kx="0" ky="0" algn="bl" rotWithShape="0" blurRad="76200" dist="25400" dir="8100000">
              <a:srgbClr val="000000">
                <a:alpha val="12000"/>
              </a:srgbClr>
            </a:outerShdw>
          </a:effectLst>
        </p:spPr>
      </p:sp>
      <p:sp>
        <p:nvSpPr>
          <p:cNvPr id="8" name="Text 6"/>
          <p:cNvSpPr/>
          <p:nvPr/>
        </p:nvSpPr>
        <p:spPr>
          <a:xfrm>
            <a:off x="411480" y="1463040"/>
            <a:ext cx="3931920" cy="822960"/>
          </a:xfrm>
          <a:prstGeom prst="rect">
            <a:avLst/>
          </a:prstGeom>
          <a:noFill/>
          <a:ln/>
        </p:spPr>
        <p:txBody>
          <a:bodyPr wrap="square" rtlCol="0" anchor="t"/>
          <a:lstStyle/>
          <a:p>
            <a:pPr indent="0" marL="0">
              <a:buNone/>
            </a:pPr>
            <a:r>
              <a:rPr lang="en-US" sz="1000" dirty="0">
                <a:solidFill>
                  <a:srgbClr val="A8D8A8"/>
                </a:solidFill>
                <a:latin typeface="Consolas" pitchFamily="34" charset="0"/>
                <a:ea typeface="Consolas" pitchFamily="34" charset="-122"/>
                <a:cs typeface="Consolas" pitchFamily="34" charset="-120"/>
              </a:rPr>
              <a:t>from machine import SoftI2C, Pin
</a:t>
            </a:r>
            <a:pPr indent="0" marL="0">
              <a:buNone/>
            </a:pPr>
            <a:r>
              <a:rPr lang="en-US" sz="1000" dirty="0">
                <a:solidFill>
                  <a:srgbClr val="7EC8E3"/>
                </a:solidFill>
                <a:latin typeface="Consolas" pitchFamily="34" charset="0"/>
                <a:ea typeface="Consolas" pitchFamily="34" charset="-122"/>
                <a:cs typeface="Consolas" pitchFamily="34" charset="-120"/>
              </a:rPr>
              <a:t>i2c1 = SoftI2C(scl=Pin(22), sda=Pin(21))
</a:t>
            </a:r>
            <a:pPr indent="0" marL="0">
              <a:buNone/>
            </a:pPr>
            <a:r>
              <a:rPr lang="en-US" sz="1000" dirty="0">
                <a:solidFill>
                  <a:srgbClr val="A8D8A8"/>
                </a:solidFill>
                <a:latin typeface="Consolas" pitchFamily="34" charset="0"/>
                <a:ea typeface="Consolas" pitchFamily="34" charset="-122"/>
                <a:cs typeface="Consolas" pitchFamily="34" charset="-120"/>
              </a:rPr>
              <a:t>print(</a:t>
            </a:r>
            <a:pPr indent="0" marL="0">
              <a:buNone/>
            </a:pPr>
            <a:r>
              <a:rPr lang="en-US" sz="1000" dirty="0">
                <a:solidFill>
                  <a:srgbClr val="CE9178"/>
                </a:solidFill>
                <a:latin typeface="Consolas" pitchFamily="34" charset="0"/>
                <a:ea typeface="Consolas" pitchFamily="34" charset="-122"/>
                <a:cs typeface="Consolas" pitchFamily="34" charset="-120"/>
              </a:rPr>
              <a:t>"Bus 1:"</a:t>
            </a:r>
            <a:pPr indent="0" marL="0">
              <a:buNone/>
            </a:pPr>
            <a:r>
              <a:rPr lang="en-US" sz="1000" dirty="0">
                <a:solidFill>
                  <a:srgbClr val="A8D8A8"/>
                </a:solidFill>
                <a:latin typeface="Consolas" pitchFamily="34" charset="0"/>
                <a:ea typeface="Consolas" pitchFamily="34" charset="-122"/>
                <a:cs typeface="Consolas" pitchFamily="34" charset="-120"/>
              </a:rPr>
              <a:t>, [hex(d) for d in i2c1.scan()])</a:t>
            </a:r>
            <a:endParaRPr lang="en-US" sz="1000" dirty="0"/>
          </a:p>
        </p:txBody>
      </p:sp>
      <p:sp>
        <p:nvSpPr>
          <p:cNvPr id="9" name="Shape 7"/>
          <p:cNvSpPr/>
          <p:nvPr/>
        </p:nvSpPr>
        <p:spPr>
          <a:xfrm>
            <a:off x="274320" y="2423160"/>
            <a:ext cx="4206240" cy="365760"/>
          </a:xfrm>
          <a:prstGeom prst="rect">
            <a:avLst/>
          </a:prstGeom>
          <a:solidFill>
            <a:srgbClr val="E8F5E9"/>
          </a:solidFill>
          <a:ln w="12700">
            <a:solidFill>
              <a:srgbClr val="4A7C59"/>
            </a:solidFill>
            <a:prstDash val="solid"/>
          </a:ln>
        </p:spPr>
      </p:sp>
      <p:sp>
        <p:nvSpPr>
          <p:cNvPr id="10" name="Text 8"/>
          <p:cNvSpPr/>
          <p:nvPr/>
        </p:nvSpPr>
        <p:spPr>
          <a:xfrm>
            <a:off x="457200" y="2423160"/>
            <a:ext cx="3931920" cy="365760"/>
          </a:xfrm>
          <a:prstGeom prst="rect">
            <a:avLst/>
          </a:prstGeom>
          <a:noFill/>
          <a:ln/>
        </p:spPr>
        <p:txBody>
          <a:bodyPr wrap="square" lIns="0" tIns="0" rIns="0" bIns="0" rtlCol="0" anchor="ctr"/>
          <a:lstStyle/>
          <a:p>
            <a:pPr indent="0" marL="0">
              <a:buNone/>
            </a:pPr>
            <a:r>
              <a:rPr lang="en-US" sz="1100" dirty="0">
                <a:solidFill>
                  <a:srgbClr val="2C5F2D"/>
                </a:solidFill>
                <a:latin typeface="Consolas" pitchFamily="34" charset="0"/>
                <a:ea typeface="Consolas" pitchFamily="34" charset="-122"/>
                <a:cs typeface="Consolas" pitchFamily="34" charset="-120"/>
              </a:rPr>
              <a:t>✓  Expected: Bus 1: ['0x3c']</a:t>
            </a:r>
            <a:endParaRPr lang="en-US" sz="1100" dirty="0"/>
          </a:p>
        </p:txBody>
      </p:sp>
      <p:sp>
        <p:nvSpPr>
          <p:cNvPr id="11" name="Text 9"/>
          <p:cNvSpPr/>
          <p:nvPr/>
        </p:nvSpPr>
        <p:spPr>
          <a:xfrm>
            <a:off x="4663440" y="1051560"/>
            <a:ext cx="41148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Step 2 — Display Test</a:t>
            </a:r>
            <a:endParaRPr lang="en-US" sz="1300" dirty="0"/>
          </a:p>
        </p:txBody>
      </p:sp>
      <p:sp>
        <p:nvSpPr>
          <p:cNvPr id="12" name="Shape 10"/>
          <p:cNvSpPr/>
          <p:nvPr/>
        </p:nvSpPr>
        <p:spPr>
          <a:xfrm>
            <a:off x="4572000" y="1371600"/>
            <a:ext cx="4297680" cy="1645920"/>
          </a:xfrm>
          <a:prstGeom prst="rect">
            <a:avLst/>
          </a:prstGeom>
          <a:solidFill>
            <a:srgbClr val="0D1117"/>
          </a:solidFill>
          <a:ln w="19050">
            <a:solidFill>
              <a:srgbClr val="4A7C59"/>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4709160" y="1463040"/>
            <a:ext cx="4023360" cy="1463040"/>
          </a:xfrm>
          <a:prstGeom prst="rect">
            <a:avLst/>
          </a:prstGeom>
          <a:noFill/>
          <a:ln/>
        </p:spPr>
        <p:txBody>
          <a:bodyPr wrap="square" rtlCol="0" anchor="t"/>
          <a:lstStyle/>
          <a:p>
            <a:pPr indent="0" marL="0">
              <a:buNone/>
            </a:pPr>
            <a:r>
              <a:rPr lang="en-US" sz="1000" dirty="0">
                <a:solidFill>
                  <a:srgbClr val="A8D8A8"/>
                </a:solidFill>
                <a:latin typeface="Consolas" pitchFamily="34" charset="0"/>
                <a:ea typeface="Consolas" pitchFamily="34" charset="-122"/>
                <a:cs typeface="Consolas" pitchFamily="34" charset="-120"/>
              </a:rPr>
              <a:t>from machine import SoftI2C, Pin
</a:t>
            </a:r>
            <a:pPr indent="0" marL="0">
              <a:buNone/>
            </a:pPr>
            <a:r>
              <a:rPr lang="en-US" sz="1000" dirty="0">
                <a:solidFill>
                  <a:srgbClr val="A8D8A8"/>
                </a:solidFill>
                <a:latin typeface="Consolas" pitchFamily="34" charset="0"/>
                <a:ea typeface="Consolas" pitchFamily="34" charset="-122"/>
                <a:cs typeface="Consolas" pitchFamily="34" charset="-120"/>
              </a:rPr>
              <a:t>import ssd1306
</a:t>
            </a:r>
            <a:pPr indent="0" marL="0">
              <a:buNone/>
            </a:pPr>
            <a:r>
              <a:rPr lang="en-US" sz="1000" dirty="0">
                <a:solidFill>
                  <a:srgbClr val="7EC8E3"/>
                </a:solidFill>
                <a:latin typeface="Consolas" pitchFamily="34" charset="0"/>
                <a:ea typeface="Consolas" pitchFamily="34" charset="-122"/>
                <a:cs typeface="Consolas" pitchFamily="34" charset="-120"/>
              </a:rPr>
              <a:t>i2c1 = SoftI2C(scl=Pin(22), sda=Pin(21))
</a:t>
            </a:r>
            <a:pPr indent="0" marL="0">
              <a:buNone/>
            </a:pPr>
            <a:r>
              <a:rPr lang="en-US" sz="1000" dirty="0">
                <a:solidFill>
                  <a:srgbClr val="7EC8E3"/>
                </a:solidFill>
                <a:latin typeface="Consolas" pitchFamily="34" charset="0"/>
                <a:ea typeface="Consolas" pitchFamily="34" charset="-122"/>
                <a:cs typeface="Consolas" pitchFamily="34" charset="-120"/>
              </a:rPr>
              <a:t>oled = ssd1306.SSD1306_I2C(128, 64, i2c1)
</a:t>
            </a:r>
            <a:pPr indent="0" marL="0">
              <a:buNone/>
            </a:pPr>
            <a:r>
              <a:rPr lang="en-US" sz="1000" dirty="0">
                <a:solidFill>
                  <a:srgbClr val="A8D8A8"/>
                </a:solidFill>
                <a:latin typeface="Consolas" pitchFamily="34" charset="0"/>
                <a:ea typeface="Consolas" pitchFamily="34" charset="-122"/>
                <a:cs typeface="Consolas" pitchFamily="34" charset="-120"/>
              </a:rPr>
              <a:t>oled.fill(0)
</a:t>
            </a:r>
            <a:pPr indent="0" marL="0">
              <a:buNone/>
            </a:pPr>
            <a:r>
              <a:rPr lang="en-US" sz="1000" dirty="0">
                <a:solidFill>
                  <a:srgbClr val="A8D8A8"/>
                </a:solidFill>
                <a:latin typeface="Consolas" pitchFamily="34" charset="0"/>
                <a:ea typeface="Consolas" pitchFamily="34" charset="-122"/>
                <a:cs typeface="Consolas" pitchFamily="34" charset="-120"/>
              </a:rPr>
              <a:t>oled.text(</a:t>
            </a:r>
            <a:pPr indent="0" marL="0">
              <a:buNone/>
            </a:pPr>
            <a:r>
              <a:rPr lang="en-US" sz="1000" dirty="0">
                <a:solidFill>
                  <a:srgbClr val="CE9178"/>
                </a:solidFill>
                <a:latin typeface="Consolas" pitchFamily="34" charset="0"/>
                <a:ea typeface="Consolas" pitchFamily="34" charset="-122"/>
                <a:cs typeface="Consolas" pitchFamily="34" charset="-120"/>
              </a:rPr>
              <a:t>"MicroLab"</a:t>
            </a:r>
            <a:pPr indent="0" marL="0">
              <a:buNone/>
            </a:pPr>
            <a:r>
              <a:rPr lang="en-US" sz="1000" dirty="0">
                <a:solidFill>
                  <a:srgbClr val="A8D8A8"/>
                </a:solidFill>
                <a:latin typeface="Consolas" pitchFamily="34" charset="0"/>
                <a:ea typeface="Consolas" pitchFamily="34" charset="-122"/>
                <a:cs typeface="Consolas" pitchFamily="34" charset="-120"/>
              </a:rPr>
              <a:t>, 24, 10)
</a:t>
            </a:r>
            <a:pPr indent="0" marL="0">
              <a:buNone/>
            </a:pPr>
            <a:r>
              <a:rPr lang="en-US" sz="1000" dirty="0">
                <a:solidFill>
                  <a:srgbClr val="A8D8A8"/>
                </a:solidFill>
                <a:latin typeface="Consolas" pitchFamily="34" charset="0"/>
                <a:ea typeface="Consolas" pitchFamily="34" charset="-122"/>
                <a:cs typeface="Consolas" pitchFamily="34" charset="-120"/>
              </a:rPr>
              <a:t>oled.text(</a:t>
            </a:r>
            <a:pPr indent="0" marL="0">
              <a:buNone/>
            </a:pPr>
            <a:r>
              <a:rPr lang="en-US" sz="1000" dirty="0">
                <a:solidFill>
                  <a:srgbClr val="CE9178"/>
                </a:solidFill>
                <a:latin typeface="Consolas" pitchFamily="34" charset="0"/>
                <a:ea typeface="Consolas" pitchFamily="34" charset="-122"/>
                <a:cs typeface="Consolas" pitchFamily="34" charset="-120"/>
              </a:rPr>
              <a:t>"OLED #1 OK!"</a:t>
            </a:r>
            <a:pPr indent="0" marL="0">
              <a:buNone/>
            </a:pPr>
            <a:r>
              <a:rPr lang="en-US" sz="1000" dirty="0">
                <a:solidFill>
                  <a:srgbClr val="A8D8A8"/>
                </a:solidFill>
                <a:latin typeface="Consolas" pitchFamily="34" charset="0"/>
                <a:ea typeface="Consolas" pitchFamily="34" charset="-122"/>
                <a:cs typeface="Consolas" pitchFamily="34" charset="-120"/>
              </a:rPr>
              <a:t>, 16, 44)
</a:t>
            </a:r>
            <a:pPr indent="0" marL="0">
              <a:buNone/>
            </a:pPr>
            <a:r>
              <a:rPr lang="en-US" sz="1000" dirty="0">
                <a:solidFill>
                  <a:srgbClr val="A8D8A8"/>
                </a:solidFill>
                <a:latin typeface="Consolas" pitchFamily="34" charset="0"/>
                <a:ea typeface="Consolas" pitchFamily="34" charset="-122"/>
                <a:cs typeface="Consolas" pitchFamily="34" charset="-120"/>
              </a:rPr>
              <a:t>oled.show()</a:t>
            </a:r>
            <a:endParaRPr lang="en-US" sz="1000" dirty="0"/>
          </a:p>
        </p:txBody>
      </p:sp>
      <p:sp>
        <p:nvSpPr>
          <p:cNvPr id="14" name="Text 12"/>
          <p:cNvSpPr/>
          <p:nvPr/>
        </p:nvSpPr>
        <p:spPr>
          <a:xfrm>
            <a:off x="365760" y="2880360"/>
            <a:ext cx="82296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Troubleshooting</a:t>
            </a:r>
            <a:endParaRPr lang="en-US" sz="1300" dirty="0"/>
          </a:p>
        </p:txBody>
      </p:sp>
      <p:sp>
        <p:nvSpPr>
          <p:cNvPr id="15" name="Shape 13"/>
          <p:cNvSpPr/>
          <p:nvPr/>
        </p:nvSpPr>
        <p:spPr>
          <a:xfrm>
            <a:off x="274320" y="3246120"/>
            <a:ext cx="8595360" cy="384048"/>
          </a:xfrm>
          <a:prstGeom prst="rect">
            <a:avLst/>
          </a:prstGeom>
          <a:solidFill>
            <a:srgbClr val="FFF8E1"/>
          </a:solidFill>
          <a:ln w="6350">
            <a:solidFill>
              <a:srgbClr val="FFE082"/>
            </a:solidFill>
            <a:prstDash val="solid"/>
          </a:ln>
        </p:spPr>
      </p:sp>
      <p:sp>
        <p:nvSpPr>
          <p:cNvPr id="16" name="Text 14"/>
          <p:cNvSpPr/>
          <p:nvPr/>
        </p:nvSpPr>
        <p:spPr>
          <a:xfrm>
            <a:off x="411480" y="3246120"/>
            <a:ext cx="3474720" cy="384048"/>
          </a:xfrm>
          <a:prstGeom prst="rect">
            <a:avLst/>
          </a:prstGeom>
          <a:noFill/>
          <a:ln/>
        </p:spPr>
        <p:txBody>
          <a:bodyPr wrap="square" lIns="0" tIns="0" rIns="0" bIns="0" rtlCol="0" anchor="ctr"/>
          <a:lstStyle/>
          <a:p>
            <a:pPr indent="0" marL="0">
              <a:buNone/>
            </a:pPr>
            <a:r>
              <a:rPr lang="en-US" sz="1050" b="1" dirty="0">
                <a:solidFill>
                  <a:srgbClr val="E8873A"/>
                </a:solidFill>
                <a:latin typeface="Calibri" pitchFamily="34" charset="0"/>
                <a:ea typeface="Calibri" pitchFamily="34" charset="-122"/>
                <a:cs typeface="Calibri" pitchFamily="34" charset="-120"/>
              </a:rPr>
              <a:t>⚡ Nothing found on Bus 1</a:t>
            </a:r>
            <a:endParaRPr lang="en-US" sz="1050" dirty="0"/>
          </a:p>
        </p:txBody>
      </p:sp>
      <p:sp>
        <p:nvSpPr>
          <p:cNvPr id="17" name="Text 15"/>
          <p:cNvSpPr/>
          <p:nvPr/>
        </p:nvSpPr>
        <p:spPr>
          <a:xfrm>
            <a:off x="3931920" y="3246120"/>
            <a:ext cx="4754880" cy="384048"/>
          </a:xfrm>
          <a:prstGeom prst="rect">
            <a:avLst/>
          </a:prstGeom>
          <a:noFill/>
          <a:ln/>
        </p:spPr>
        <p:txBody>
          <a:bodyPr wrap="square" lIns="0" tIns="0" rIns="0" bIns="0" rtlCol="0" anchor="ctr"/>
          <a:lstStyle/>
          <a:p>
            <a:pPr indent="0" marL="0">
              <a:buNone/>
            </a:pPr>
            <a:r>
              <a:rPr lang="en-US" sz="1050" dirty="0">
                <a:solidFill>
                  <a:srgbClr val="1B2D1E"/>
                </a:solidFill>
                <a:latin typeface="Calibri" pitchFamily="34" charset="0"/>
                <a:ea typeface="Calibri" pitchFamily="34" charset="-122"/>
                <a:cs typeface="Calibri" pitchFamily="34" charset="-120"/>
              </a:rPr>
              <a:t>→  Check SDA→GPIO21 and SCL→GPIO22 wiring</a:t>
            </a:r>
            <a:endParaRPr lang="en-US" sz="1050" dirty="0"/>
          </a:p>
        </p:txBody>
      </p:sp>
      <p:sp>
        <p:nvSpPr>
          <p:cNvPr id="18" name="Shape 16"/>
          <p:cNvSpPr/>
          <p:nvPr/>
        </p:nvSpPr>
        <p:spPr>
          <a:xfrm>
            <a:off x="274320" y="3685032"/>
            <a:ext cx="8595360" cy="384048"/>
          </a:xfrm>
          <a:prstGeom prst="rect">
            <a:avLst/>
          </a:prstGeom>
          <a:solidFill>
            <a:srgbClr val="FFFDE7"/>
          </a:solidFill>
          <a:ln w="6350">
            <a:solidFill>
              <a:srgbClr val="FFE082"/>
            </a:solidFill>
            <a:prstDash val="solid"/>
          </a:ln>
        </p:spPr>
      </p:sp>
      <p:sp>
        <p:nvSpPr>
          <p:cNvPr id="19" name="Text 17"/>
          <p:cNvSpPr/>
          <p:nvPr/>
        </p:nvSpPr>
        <p:spPr>
          <a:xfrm>
            <a:off x="411480" y="3685032"/>
            <a:ext cx="3474720" cy="384048"/>
          </a:xfrm>
          <a:prstGeom prst="rect">
            <a:avLst/>
          </a:prstGeom>
          <a:noFill/>
          <a:ln/>
        </p:spPr>
        <p:txBody>
          <a:bodyPr wrap="square" lIns="0" tIns="0" rIns="0" bIns="0" rtlCol="0" anchor="ctr"/>
          <a:lstStyle/>
          <a:p>
            <a:pPr indent="0" marL="0">
              <a:buNone/>
            </a:pPr>
            <a:r>
              <a:rPr lang="en-US" sz="1050" b="1" dirty="0">
                <a:solidFill>
                  <a:srgbClr val="E8873A"/>
                </a:solidFill>
                <a:latin typeface="Calibri" pitchFamily="34" charset="0"/>
                <a:ea typeface="Calibri" pitchFamily="34" charset="-122"/>
                <a:cs typeface="Calibri" pitchFamily="34" charset="-120"/>
              </a:rPr>
              <a:t>⚡ AttributeError: SSD1306_I2C</a:t>
            </a:r>
            <a:endParaRPr lang="en-US" sz="1050" dirty="0"/>
          </a:p>
        </p:txBody>
      </p:sp>
      <p:sp>
        <p:nvSpPr>
          <p:cNvPr id="20" name="Text 18"/>
          <p:cNvSpPr/>
          <p:nvPr/>
        </p:nvSpPr>
        <p:spPr>
          <a:xfrm>
            <a:off x="3931920" y="3685032"/>
            <a:ext cx="4754880" cy="384048"/>
          </a:xfrm>
          <a:prstGeom prst="rect">
            <a:avLst/>
          </a:prstGeom>
          <a:noFill/>
          <a:ln/>
        </p:spPr>
        <p:txBody>
          <a:bodyPr wrap="square" lIns="0" tIns="0" rIns="0" bIns="0" rtlCol="0" anchor="ctr"/>
          <a:lstStyle/>
          <a:p>
            <a:pPr indent="0" marL="0">
              <a:buNone/>
            </a:pPr>
            <a:r>
              <a:rPr lang="en-US" sz="1050" dirty="0">
                <a:solidFill>
                  <a:srgbClr val="1B2D1E"/>
                </a:solidFill>
                <a:latin typeface="Calibri" pitchFamily="34" charset="0"/>
                <a:ea typeface="Calibri" pitchFamily="34" charset="-122"/>
                <a:cs typeface="Calibri" pitchFamily="34" charset="-120"/>
              </a:rPr>
              <a:t>→  Wrong ssd1306.py — replace with official MicroPython version</a:t>
            </a:r>
            <a:endParaRPr lang="en-US" sz="1050" dirty="0"/>
          </a:p>
        </p:txBody>
      </p:sp>
      <p:sp>
        <p:nvSpPr>
          <p:cNvPr id="21" name="Shape 19"/>
          <p:cNvSpPr/>
          <p:nvPr/>
        </p:nvSpPr>
        <p:spPr>
          <a:xfrm>
            <a:off x="274320" y="4123944"/>
            <a:ext cx="8595360" cy="384048"/>
          </a:xfrm>
          <a:prstGeom prst="rect">
            <a:avLst/>
          </a:prstGeom>
          <a:solidFill>
            <a:srgbClr val="FFF8E1"/>
          </a:solidFill>
          <a:ln w="6350">
            <a:solidFill>
              <a:srgbClr val="FFE082"/>
            </a:solidFill>
            <a:prstDash val="solid"/>
          </a:ln>
        </p:spPr>
      </p:sp>
      <p:sp>
        <p:nvSpPr>
          <p:cNvPr id="22" name="Text 20"/>
          <p:cNvSpPr/>
          <p:nvPr/>
        </p:nvSpPr>
        <p:spPr>
          <a:xfrm>
            <a:off x="411480" y="4123944"/>
            <a:ext cx="3474720" cy="384048"/>
          </a:xfrm>
          <a:prstGeom prst="rect">
            <a:avLst/>
          </a:prstGeom>
          <a:noFill/>
          <a:ln/>
        </p:spPr>
        <p:txBody>
          <a:bodyPr wrap="square" lIns="0" tIns="0" rIns="0" bIns="0" rtlCol="0" anchor="ctr"/>
          <a:lstStyle/>
          <a:p>
            <a:pPr indent="0" marL="0">
              <a:buNone/>
            </a:pPr>
            <a:r>
              <a:rPr lang="en-US" sz="1050" b="1" dirty="0">
                <a:solidFill>
                  <a:srgbClr val="E8873A"/>
                </a:solidFill>
                <a:latin typeface="Calibri" pitchFamily="34" charset="0"/>
                <a:ea typeface="Calibri" pitchFamily="34" charset="-122"/>
                <a:cs typeface="Calibri" pitchFamily="34" charset="-120"/>
              </a:rPr>
              <a:t>⚡ Display stays blank</a:t>
            </a:r>
            <a:endParaRPr lang="en-US" sz="1050" dirty="0"/>
          </a:p>
        </p:txBody>
      </p:sp>
      <p:sp>
        <p:nvSpPr>
          <p:cNvPr id="23" name="Text 21"/>
          <p:cNvSpPr/>
          <p:nvPr/>
        </p:nvSpPr>
        <p:spPr>
          <a:xfrm>
            <a:off x="3931920" y="4123944"/>
            <a:ext cx="4754880" cy="384048"/>
          </a:xfrm>
          <a:prstGeom prst="rect">
            <a:avLst/>
          </a:prstGeom>
          <a:noFill/>
          <a:ln/>
        </p:spPr>
        <p:txBody>
          <a:bodyPr wrap="square" lIns="0" tIns="0" rIns="0" bIns="0" rtlCol="0" anchor="ctr"/>
          <a:lstStyle/>
          <a:p>
            <a:pPr indent="0" marL="0">
              <a:buNone/>
            </a:pPr>
            <a:r>
              <a:rPr lang="en-US" sz="1050" dirty="0">
                <a:solidFill>
                  <a:srgbClr val="1B2D1E"/>
                </a:solidFill>
                <a:latin typeface="Calibri" pitchFamily="34" charset="0"/>
                <a:ea typeface="Calibri" pitchFamily="34" charset="-122"/>
                <a:cs typeface="Calibri" pitchFamily="34" charset="-120"/>
              </a:rPr>
              <a:t>→  Check VCC→3.3V and GND connections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2D"/>
          </a:solidFill>
          <a:ln w="12700">
            <a:solidFill>
              <a:srgbClr val="1B3A2D"/>
            </a:solidFill>
            <a:prstDash val="solid"/>
          </a:ln>
        </p:spPr>
      </p:sp>
      <p:sp>
        <p:nvSpPr>
          <p:cNvPr id="3" name="Shape 1"/>
          <p:cNvSpPr/>
          <p:nvPr/>
        </p:nvSpPr>
        <p:spPr>
          <a:xfrm>
            <a:off x="457200" y="1645920"/>
            <a:ext cx="73152" cy="1828800"/>
          </a:xfrm>
          <a:prstGeom prst="rect">
            <a:avLst/>
          </a:prstGeom>
          <a:solidFill>
            <a:srgbClr val="97BC62"/>
          </a:solidFill>
          <a:ln w="12700">
            <a:solidFill>
              <a:srgbClr val="97BC62"/>
            </a:solidFill>
            <a:prstDash val="solid"/>
          </a:ln>
        </p:spPr>
      </p:sp>
      <p:sp>
        <p:nvSpPr>
          <p:cNvPr id="4" name="Text 2"/>
          <p:cNvSpPr/>
          <p:nvPr/>
        </p:nvSpPr>
        <p:spPr>
          <a:xfrm>
            <a:off x="731520" y="1645920"/>
            <a:ext cx="7315200" cy="457200"/>
          </a:xfrm>
          <a:prstGeom prst="rect">
            <a:avLst/>
          </a:prstGeom>
          <a:noFill/>
          <a:ln/>
        </p:spPr>
        <p:txBody>
          <a:bodyPr wrap="square"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MODULE 2</a:t>
            </a:r>
            <a:endParaRPr lang="en-US" sz="1300" dirty="0"/>
          </a:p>
        </p:txBody>
      </p:sp>
      <p:sp>
        <p:nvSpPr>
          <p:cNvPr id="5" name="Text 3"/>
          <p:cNvSpPr/>
          <p:nvPr/>
        </p:nvSpPr>
        <p:spPr>
          <a:xfrm>
            <a:off x="731520" y="2103120"/>
            <a:ext cx="7772400" cy="9144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OLED Display #2</a:t>
            </a:r>
            <a:endParaRPr lang="en-US" sz="3600" dirty="0"/>
          </a:p>
        </p:txBody>
      </p:sp>
      <p:sp>
        <p:nvSpPr>
          <p:cNvPr id="6" name="Text 4"/>
          <p:cNvSpPr/>
          <p:nvPr/>
        </p:nvSpPr>
        <p:spPr>
          <a:xfrm>
            <a:off x="731520" y="3017520"/>
            <a:ext cx="6858000" cy="640080"/>
          </a:xfrm>
          <a:prstGeom prst="rect">
            <a:avLst/>
          </a:prstGeom>
          <a:noFill/>
          <a:ln/>
        </p:spPr>
        <p:txBody>
          <a:bodyPr wrap="square" rtlCol="0" anchor="ctr"/>
          <a:lstStyle/>
          <a:p>
            <a:pPr indent="0" marL="0">
              <a:buNone/>
            </a:pPr>
            <a:r>
              <a:rPr lang="en-US" sz="1600" i="1" dirty="0">
                <a:solidFill>
                  <a:srgbClr val="6B8F71"/>
                </a:solidFill>
                <a:latin typeface="Calibri" pitchFamily="34" charset="0"/>
                <a:ea typeface="Calibri" pitchFamily="34" charset="-122"/>
                <a:cs typeface="Calibri" pitchFamily="34" charset="-120"/>
              </a:rPr>
              <a:t>Moisture Display — I2C Bus 2 (SDA=26, SCL=27)</a:t>
            </a:r>
            <a:endParaRPr lang="en-US" sz="1600" dirty="0"/>
          </a:p>
        </p:txBody>
      </p:sp>
      <p:sp>
        <p:nvSpPr>
          <p:cNvPr id="7" name="Text 5"/>
          <p:cNvSpPr/>
          <p:nvPr/>
        </p:nvSpPr>
        <p:spPr>
          <a:xfrm>
            <a:off x="7772400" y="4480560"/>
            <a:ext cx="1097280" cy="365760"/>
          </a:xfrm>
          <a:prstGeom prst="rect">
            <a:avLst/>
          </a:prstGeom>
          <a:noFill/>
          <a:ln/>
        </p:spPr>
        <p:txBody>
          <a:bodyPr wrap="square" rtlCol="0" anchor="ctr"/>
          <a:lstStyle/>
          <a:p>
            <a:pPr algn="r" indent="0" marL="0">
              <a:buNone/>
            </a:pPr>
            <a:r>
              <a:rPr lang="en-US" sz="1100" dirty="0">
                <a:solidFill>
                  <a:srgbClr val="6B8F71"/>
                </a:solidFill>
              </a:rPr>
              <a:t>2 / 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Module 2 — OLED #2 Test</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Black Box Step 2 of 4</a:t>
            </a:r>
            <a:endParaRPr lang="en-US" sz="1100" dirty="0"/>
          </a:p>
        </p:txBody>
      </p:sp>
      <p:sp>
        <p:nvSpPr>
          <p:cNvPr id="5" name="Text 3"/>
          <p:cNvSpPr/>
          <p:nvPr/>
        </p:nvSpPr>
        <p:spPr>
          <a:xfrm>
            <a:off x="365760" y="640080"/>
            <a:ext cx="8412480" cy="365760"/>
          </a:xfrm>
          <a:prstGeom prst="rect">
            <a:avLst/>
          </a:prstGeom>
          <a:noFill/>
          <a:ln/>
        </p:spPr>
        <p:txBody>
          <a:bodyPr wrap="square" rtlCol="0" anchor="ctr"/>
          <a:lstStyle/>
          <a:p>
            <a:pPr indent="0" marL="0">
              <a:buNone/>
            </a:pPr>
            <a:r>
              <a:rPr lang="en-US" sz="1200" i="1" dirty="0">
                <a:solidFill>
                  <a:srgbClr val="1B2D1E"/>
                </a:solidFill>
                <a:latin typeface="Calibri" pitchFamily="34" charset="0"/>
                <a:ea typeface="Calibri" pitchFamily="34" charset="-122"/>
                <a:cs typeface="Calibri" pitchFamily="34" charset="-120"/>
              </a:rPr>
              <a:t>Objective: Confirm OLED #2 is on a separate I2C bus and both displays work simultaneously.</a:t>
            </a:r>
            <a:endParaRPr lang="en-US" sz="1200" dirty="0"/>
          </a:p>
        </p:txBody>
      </p:sp>
      <p:sp>
        <p:nvSpPr>
          <p:cNvPr id="6" name="Text 4"/>
          <p:cNvSpPr/>
          <p:nvPr/>
        </p:nvSpPr>
        <p:spPr>
          <a:xfrm>
            <a:off x="365760" y="1051560"/>
            <a:ext cx="41148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Why Two Buses?</a:t>
            </a:r>
            <a:endParaRPr lang="en-US" sz="1300" dirty="0"/>
          </a:p>
        </p:txBody>
      </p:sp>
      <p:sp>
        <p:nvSpPr>
          <p:cNvPr id="7" name="Text 5"/>
          <p:cNvSpPr/>
          <p:nvPr/>
        </p:nvSpPr>
        <p:spPr>
          <a:xfrm>
            <a:off x="365760" y="1371600"/>
            <a:ext cx="4114800" cy="822960"/>
          </a:xfrm>
          <a:prstGeom prst="rect">
            <a:avLst/>
          </a:prstGeom>
          <a:noFill/>
          <a:ln/>
        </p:spPr>
        <p:txBody>
          <a:bodyPr wrap="square" rtlCol="0" anchor="ctr"/>
          <a:lstStyle/>
          <a:p>
            <a:pPr indent="0" marL="0">
              <a:buNone/>
            </a:pPr>
            <a:r>
              <a:rPr lang="en-US" sz="1100" dirty="0">
                <a:solidFill>
                  <a:srgbClr val="1B2D1E"/>
                </a:solidFill>
                <a:latin typeface="Calibri" pitchFamily="34" charset="0"/>
                <a:ea typeface="Calibri" pitchFamily="34" charset="-122"/>
                <a:cs typeface="Calibri" pitchFamily="34" charset="-120"/>
              </a:rPr>
              <a:t>Both OLEDs share the same I2C address (0x3C). If connected to the same bus they will conflict and only one will respond. The solution is to use two separate I2C buses on the ESP32.</a:t>
            </a:r>
            <a:endParaRPr lang="en-US" sz="1100" dirty="0"/>
          </a:p>
        </p:txBody>
      </p:sp>
      <p:sp>
        <p:nvSpPr>
          <p:cNvPr id="8" name="Text 6"/>
          <p:cNvSpPr/>
          <p:nvPr/>
        </p:nvSpPr>
        <p:spPr>
          <a:xfrm>
            <a:off x="4663440" y="1051560"/>
            <a:ext cx="41148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Both OLEDs Test</a:t>
            </a:r>
            <a:endParaRPr lang="en-US" sz="1300" dirty="0"/>
          </a:p>
        </p:txBody>
      </p:sp>
      <p:sp>
        <p:nvSpPr>
          <p:cNvPr id="9" name="Shape 7"/>
          <p:cNvSpPr/>
          <p:nvPr/>
        </p:nvSpPr>
        <p:spPr>
          <a:xfrm>
            <a:off x="4572000" y="1371600"/>
            <a:ext cx="4297680" cy="2286000"/>
          </a:xfrm>
          <a:prstGeom prst="rect">
            <a:avLst/>
          </a:prstGeom>
          <a:solidFill>
            <a:srgbClr val="0D1117"/>
          </a:solidFill>
          <a:ln w="19050">
            <a:solidFill>
              <a:srgbClr val="4A7C59"/>
            </a:solidFill>
            <a:prstDash val="solid"/>
          </a:ln>
          <a:effectLst>
            <a:outerShdw sx="100000" sy="100000" kx="0" ky="0" algn="bl" rotWithShape="0" blurRad="76200" dist="25400" dir="8100000">
              <a:srgbClr val="000000">
                <a:alpha val="12000"/>
              </a:srgbClr>
            </a:outerShdw>
          </a:effectLst>
        </p:spPr>
      </p:sp>
      <p:sp>
        <p:nvSpPr>
          <p:cNvPr id="10" name="Text 8"/>
          <p:cNvSpPr/>
          <p:nvPr/>
        </p:nvSpPr>
        <p:spPr>
          <a:xfrm>
            <a:off x="4709160" y="1463040"/>
            <a:ext cx="4023360" cy="2103120"/>
          </a:xfrm>
          <a:prstGeom prst="rect">
            <a:avLst/>
          </a:prstGeom>
          <a:noFill/>
          <a:ln/>
        </p:spPr>
        <p:txBody>
          <a:bodyPr wrap="square" rtlCol="0" anchor="t"/>
          <a:lstStyle/>
          <a:p>
            <a:pPr indent="0" marL="0">
              <a:buNone/>
            </a:pPr>
            <a:r>
              <a:rPr lang="en-US" sz="1000" dirty="0">
                <a:solidFill>
                  <a:srgbClr val="A8D8A8"/>
                </a:solidFill>
                <a:latin typeface="Consolas" pitchFamily="34" charset="0"/>
                <a:ea typeface="Consolas" pitchFamily="34" charset="-122"/>
                <a:cs typeface="Consolas" pitchFamily="34" charset="-120"/>
              </a:rPr>
              <a:t>from machine import SoftI2C, Pin
import ssd1306
</a:t>
            </a:r>
            <a:pPr indent="0" marL="0">
              <a:buNone/>
            </a:pPr>
            <a:r>
              <a:rPr lang="en-US" sz="1000" dirty="0">
                <a:solidFill>
                  <a:srgbClr val="7EC8E3"/>
                </a:solidFill>
                <a:latin typeface="Consolas" pitchFamily="34" charset="0"/>
                <a:ea typeface="Consolas" pitchFamily="34" charset="-122"/>
                <a:cs typeface="Consolas" pitchFamily="34" charset="-120"/>
              </a:rPr>
              <a:t>i2c1 = SoftI2C(scl=Pin(22), sda=Pin(21))
</a:t>
            </a:r>
            <a:pPr indent="0" marL="0">
              <a:buNone/>
            </a:pPr>
            <a:r>
              <a:rPr lang="en-US" sz="1000" dirty="0">
                <a:solidFill>
                  <a:srgbClr val="98D8C8"/>
                </a:solidFill>
                <a:latin typeface="Consolas" pitchFamily="34" charset="0"/>
                <a:ea typeface="Consolas" pitchFamily="34" charset="-122"/>
                <a:cs typeface="Consolas" pitchFamily="34" charset="-120"/>
              </a:rPr>
              <a:t>i2c2 = SoftI2C(scl=Pin(27), sda=Pin(26))
</a:t>
            </a:r>
            <a:pPr indent="0" marL="0">
              <a:buNone/>
            </a:pPr>
            <a:r>
              <a:rPr lang="en-US" sz="1000" dirty="0">
                <a:solidFill>
                  <a:srgbClr val="7EC8E3"/>
                </a:solidFill>
                <a:latin typeface="Consolas" pitchFamily="34" charset="0"/>
                <a:ea typeface="Consolas" pitchFamily="34" charset="-122"/>
                <a:cs typeface="Consolas" pitchFamily="34" charset="-120"/>
              </a:rPr>
              <a:t>oled1 = ssd1306.SSD1306_I2C(128, 64, i2c1)
</a:t>
            </a:r>
            <a:pPr indent="0" marL="0">
              <a:buNone/>
            </a:pPr>
            <a:r>
              <a:rPr lang="en-US" sz="1000" dirty="0">
                <a:solidFill>
                  <a:srgbClr val="98D8C8"/>
                </a:solidFill>
                <a:latin typeface="Consolas" pitchFamily="34" charset="0"/>
                <a:ea typeface="Consolas" pitchFamily="34" charset="-122"/>
                <a:cs typeface="Consolas" pitchFamily="34" charset="-120"/>
              </a:rPr>
              <a:t>oled2 = ssd1306.SSD1306_I2C(128, 64, i2c2)
</a:t>
            </a:r>
            <a:pPr indent="0" marL="0">
              <a:buNone/>
            </a:pPr>
            <a:r>
              <a:rPr lang="en-US" sz="1000" dirty="0">
                <a:solidFill>
                  <a:srgbClr val="A8D8A8"/>
                </a:solidFill>
                <a:latin typeface="Consolas" pitchFamily="34" charset="0"/>
                <a:ea typeface="Consolas" pitchFamily="34" charset="-122"/>
                <a:cs typeface="Consolas" pitchFamily="34" charset="-120"/>
              </a:rPr>
              <a:t>oled1.fill(0)</a:t>
            </a:r>
            <a:endParaRPr lang="en-US" sz="1000" dirty="0"/>
          </a:p>
          <a:p>
            <a:pPr indent="0" marL="0">
              <a:buNone/>
            </a:pPr>
            <a:r>
              <a:rPr lang="en-US" sz="1000" dirty="0">
                <a:solidFill>
                  <a:srgbClr val="A8D8A8"/>
                </a:solidFill>
                <a:latin typeface="Consolas" pitchFamily="34" charset="0"/>
                <a:ea typeface="Consolas" pitchFamily="34" charset="-122"/>
                <a:cs typeface="Consolas" pitchFamily="34" charset="-120"/>
              </a:rPr>
              <a:t>oled1.text(</a:t>
            </a:r>
            <a:endParaRPr lang="en-US" sz="1000" dirty="0"/>
          </a:p>
          <a:p>
            <a:pPr indent="0" marL="0">
              <a:buNone/>
            </a:pPr>
            <a:r>
              <a:rPr lang="en-US" sz="1000" dirty="0">
                <a:solidFill>
                  <a:srgbClr val="CE9178"/>
                </a:solidFill>
                <a:latin typeface="Consolas" pitchFamily="34" charset="0"/>
                <a:ea typeface="Consolas" pitchFamily="34" charset="-122"/>
                <a:cs typeface="Consolas" pitchFamily="34" charset="-120"/>
              </a:rPr>
              <a:t>"OLED #1 OK!"</a:t>
            </a:r>
            <a:pPr indent="0" marL="0">
              <a:buNone/>
            </a:pPr>
            <a:r>
              <a:rPr lang="en-US" sz="1000" dirty="0">
                <a:solidFill>
                  <a:srgbClr val="A8D8A8"/>
                </a:solidFill>
                <a:latin typeface="Consolas" pitchFamily="34" charset="0"/>
                <a:ea typeface="Consolas" pitchFamily="34" charset="-122"/>
                <a:cs typeface="Consolas" pitchFamily="34" charset="-120"/>
              </a:rPr>
              <a:t>, 16, 30)
oled1.show()
</a:t>
            </a:r>
            <a:pPr indent="0" marL="0">
              <a:buNone/>
            </a:pPr>
            <a:r>
              <a:rPr lang="en-US" sz="1000" dirty="0">
                <a:solidFill>
                  <a:srgbClr val="A8D8A8"/>
                </a:solidFill>
                <a:latin typeface="Consolas" pitchFamily="34" charset="0"/>
                <a:ea typeface="Consolas" pitchFamily="34" charset="-122"/>
                <a:cs typeface="Consolas" pitchFamily="34" charset="-120"/>
              </a:rPr>
              <a:t>oled2.fill(0)</a:t>
            </a:r>
            <a:endParaRPr lang="en-US" sz="1000" dirty="0"/>
          </a:p>
          <a:p>
            <a:pPr indent="0" marL="0">
              <a:buNone/>
            </a:pPr>
            <a:r>
              <a:rPr lang="en-US" sz="1000" dirty="0">
                <a:solidFill>
                  <a:srgbClr val="A8D8A8"/>
                </a:solidFill>
                <a:latin typeface="Consolas" pitchFamily="34" charset="0"/>
                <a:ea typeface="Consolas" pitchFamily="34" charset="-122"/>
                <a:cs typeface="Consolas" pitchFamily="34" charset="-120"/>
              </a:rPr>
              <a:t>oled2.text(</a:t>
            </a:r>
            <a:endParaRPr lang="en-US" sz="1000" dirty="0"/>
          </a:p>
          <a:p>
            <a:pPr indent="0" marL="0">
              <a:buNone/>
            </a:pPr>
            <a:r>
              <a:rPr lang="en-US" sz="1000" dirty="0">
                <a:solidFill>
                  <a:srgbClr val="CE9178"/>
                </a:solidFill>
                <a:latin typeface="Consolas" pitchFamily="34" charset="0"/>
                <a:ea typeface="Consolas" pitchFamily="34" charset="-122"/>
                <a:cs typeface="Consolas" pitchFamily="34" charset="-120"/>
              </a:rPr>
              <a:t>"OLED #2 OK!"</a:t>
            </a:r>
            <a:pPr indent="0" marL="0">
              <a:buNone/>
            </a:pPr>
            <a:r>
              <a:rPr lang="en-US" sz="1000" dirty="0">
                <a:solidFill>
                  <a:srgbClr val="A8D8A8"/>
                </a:solidFill>
                <a:latin typeface="Consolas" pitchFamily="34" charset="0"/>
                <a:ea typeface="Consolas" pitchFamily="34" charset="-122"/>
                <a:cs typeface="Consolas" pitchFamily="34" charset="-120"/>
              </a:rPr>
              <a:t>, 16, 30)</a:t>
            </a:r>
            <a:endParaRPr lang="en-US" sz="1000" dirty="0"/>
          </a:p>
          <a:p>
            <a:pPr indent="0" marL="0">
              <a:buNone/>
            </a:pPr>
            <a:r>
              <a:rPr lang="en-US" sz="1000" dirty="0">
                <a:solidFill>
                  <a:srgbClr val="A8D8A8"/>
                </a:solidFill>
                <a:latin typeface="Consolas" pitchFamily="34" charset="0"/>
                <a:ea typeface="Consolas" pitchFamily="34" charset="-122"/>
                <a:cs typeface="Consolas" pitchFamily="34" charset="-120"/>
              </a:rPr>
              <a:t>oled2.show()</a:t>
            </a:r>
            <a:endParaRPr lang="en-US" sz="1000" dirty="0"/>
          </a:p>
        </p:txBody>
      </p:sp>
      <p:sp>
        <p:nvSpPr>
          <p:cNvPr id="11" name="Text 9"/>
          <p:cNvSpPr/>
          <p:nvPr/>
        </p:nvSpPr>
        <p:spPr>
          <a:xfrm>
            <a:off x="365760" y="2286000"/>
            <a:ext cx="4114800" cy="320040"/>
          </a:xfrm>
          <a:prstGeom prst="rect">
            <a:avLst/>
          </a:prstGeom>
          <a:noFill/>
          <a:ln/>
        </p:spPr>
        <p:txBody>
          <a:bodyPr wrap="square" rtlCol="0" anchor="ctr"/>
          <a:lstStyle/>
          <a:p>
            <a:pPr indent="0" marL="0">
              <a:buNone/>
            </a:pPr>
            <a:r>
              <a:rPr lang="en-US" sz="1300" b="1" dirty="0">
                <a:solidFill>
                  <a:srgbClr val="E8873A"/>
                </a:solidFill>
                <a:latin typeface="Calibri" pitchFamily="34" charset="0"/>
                <a:ea typeface="Calibri" pitchFamily="34" charset="-122"/>
                <a:cs typeface="Calibri" pitchFamily="34" charset="-120"/>
              </a:rPr>
              <a:t>Common Mistake</a:t>
            </a:r>
            <a:endParaRPr lang="en-US" sz="1300" dirty="0"/>
          </a:p>
        </p:txBody>
      </p:sp>
      <p:sp>
        <p:nvSpPr>
          <p:cNvPr id="12" name="Shape 10"/>
          <p:cNvSpPr/>
          <p:nvPr/>
        </p:nvSpPr>
        <p:spPr>
          <a:xfrm>
            <a:off x="274320" y="2633472"/>
            <a:ext cx="4206240" cy="1188720"/>
          </a:xfrm>
          <a:prstGeom prst="rect">
            <a:avLst/>
          </a:prstGeom>
          <a:solidFill>
            <a:srgbClr val="FFF3E0"/>
          </a:solidFill>
          <a:ln w="12700">
            <a:solidFill>
              <a:srgbClr val="E8873A"/>
            </a:solidFill>
            <a:prstDash val="solid"/>
          </a:ln>
        </p:spPr>
      </p:sp>
      <p:sp>
        <p:nvSpPr>
          <p:cNvPr id="13" name="Text 11"/>
          <p:cNvSpPr/>
          <p:nvPr/>
        </p:nvSpPr>
        <p:spPr>
          <a:xfrm>
            <a:off x="411480" y="2697480"/>
            <a:ext cx="3931920" cy="1051560"/>
          </a:xfrm>
          <a:prstGeom prst="rect">
            <a:avLst/>
          </a:prstGeom>
          <a:noFill/>
          <a:ln/>
        </p:spPr>
        <p:txBody>
          <a:bodyPr wrap="square" rtlCol="0" anchor="ctr"/>
          <a:lstStyle/>
          <a:p>
            <a:pPr indent="0" marL="0">
              <a:buNone/>
            </a:pPr>
            <a:r>
              <a:rPr lang="en-US" sz="1050" b="1" dirty="0">
                <a:solidFill>
                  <a:srgbClr val="E8873A"/>
                </a:solidFill>
                <a:latin typeface="Calibri" pitchFamily="34" charset="0"/>
                <a:ea typeface="Calibri" pitchFamily="34" charset="-122"/>
                <a:cs typeface="Calibri" pitchFamily="34" charset="-120"/>
              </a:rPr>
              <a:t>Both OLEDs on same pins (21/22):
</a:t>
            </a:r>
            <a:pPr indent="0" marL="0">
              <a:buNone/>
            </a:pPr>
            <a:r>
              <a:rPr lang="en-US" sz="1050" dirty="0">
                <a:solidFill>
                  <a:srgbClr val="1B2D1E"/>
                </a:solidFill>
                <a:latin typeface="Calibri" pitchFamily="34" charset="0"/>
                <a:ea typeface="Calibri" pitchFamily="34" charset="-122"/>
                <a:cs typeface="Calibri" pitchFamily="34" charset="-120"/>
              </a:rPr>
              <a:t>→ i2c.scan() only finds ONE device
→ Second OLED never responds
→ Code crashes on second oled.show()
</a:t>
            </a:r>
            <a:pPr indent="0" marL="0">
              <a:buNone/>
            </a:pPr>
            <a:r>
              <a:rPr lang="en-US" sz="1050" b="1" dirty="0">
                <a:solidFill>
                  <a:srgbClr val="2C5F2D"/>
                </a:solidFill>
                <a:latin typeface="Calibri" pitchFamily="34" charset="0"/>
                <a:ea typeface="Calibri" pitchFamily="34" charset="-122"/>
                <a:cs typeface="Calibri" pitchFamily="34" charset="-120"/>
              </a:rPr>
              <a:t>Fix: Move OLED #2 to GPIO 26 (SDA) and GPIO 27 (SCL)</a:t>
            </a:r>
            <a:endParaRPr lang="en-US" sz="1050" dirty="0"/>
          </a:p>
        </p:txBody>
      </p:sp>
      <p:sp>
        <p:nvSpPr>
          <p:cNvPr id="14" name="Shape 12"/>
          <p:cNvSpPr/>
          <p:nvPr/>
        </p:nvSpPr>
        <p:spPr>
          <a:xfrm>
            <a:off x="274320" y="3931920"/>
            <a:ext cx="8595360" cy="365760"/>
          </a:xfrm>
          <a:prstGeom prst="rect">
            <a:avLst/>
          </a:prstGeom>
          <a:solidFill>
            <a:srgbClr val="E8F5E9"/>
          </a:solidFill>
          <a:ln w="12700">
            <a:solidFill>
              <a:srgbClr val="4A7C59"/>
            </a:solidFill>
            <a:prstDash val="solid"/>
          </a:ln>
        </p:spPr>
      </p:sp>
      <p:sp>
        <p:nvSpPr>
          <p:cNvPr id="15" name="Text 13"/>
          <p:cNvSpPr/>
          <p:nvPr/>
        </p:nvSpPr>
        <p:spPr>
          <a:xfrm>
            <a:off x="457200" y="3931920"/>
            <a:ext cx="8229600" cy="365760"/>
          </a:xfrm>
          <a:prstGeom prst="rect">
            <a:avLst/>
          </a:prstGeom>
          <a:noFill/>
          <a:ln/>
        </p:spPr>
        <p:txBody>
          <a:bodyPr wrap="square" lIns="0" tIns="0" rIns="0" bIns="0" rtlCol="0" anchor="ctr"/>
          <a:lstStyle/>
          <a:p>
            <a:pPr indent="0" marL="0">
              <a:buNone/>
            </a:pPr>
            <a:r>
              <a:rPr lang="en-US" sz="1100" dirty="0">
                <a:solidFill>
                  <a:srgbClr val="2C5F2D"/>
                </a:solidFill>
                <a:latin typeface="Calibri" pitchFamily="34" charset="0"/>
                <a:ea typeface="Calibri" pitchFamily="34" charset="-122"/>
                <a:cs typeface="Calibri" pitchFamily="34" charset="-120"/>
              </a:rPr>
              <a:t>✓  Expected: Both screens light up simultaneously with different text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2D"/>
          </a:solidFill>
          <a:ln w="12700">
            <a:solidFill>
              <a:srgbClr val="1B3A2D"/>
            </a:solidFill>
            <a:prstDash val="solid"/>
          </a:ln>
        </p:spPr>
      </p:sp>
      <p:sp>
        <p:nvSpPr>
          <p:cNvPr id="3" name="Shape 1"/>
          <p:cNvSpPr/>
          <p:nvPr/>
        </p:nvSpPr>
        <p:spPr>
          <a:xfrm>
            <a:off x="457200" y="1645920"/>
            <a:ext cx="73152" cy="1828800"/>
          </a:xfrm>
          <a:prstGeom prst="rect">
            <a:avLst/>
          </a:prstGeom>
          <a:solidFill>
            <a:srgbClr val="97BC62"/>
          </a:solidFill>
          <a:ln w="12700">
            <a:solidFill>
              <a:srgbClr val="97BC62"/>
            </a:solidFill>
            <a:prstDash val="solid"/>
          </a:ln>
        </p:spPr>
      </p:sp>
      <p:sp>
        <p:nvSpPr>
          <p:cNvPr id="4" name="Text 2"/>
          <p:cNvSpPr/>
          <p:nvPr/>
        </p:nvSpPr>
        <p:spPr>
          <a:xfrm>
            <a:off x="731520" y="1645920"/>
            <a:ext cx="7315200" cy="457200"/>
          </a:xfrm>
          <a:prstGeom prst="rect">
            <a:avLst/>
          </a:prstGeom>
          <a:noFill/>
          <a:ln/>
        </p:spPr>
        <p:txBody>
          <a:bodyPr wrap="square"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MODULE 3</a:t>
            </a:r>
            <a:endParaRPr lang="en-US" sz="1300" dirty="0"/>
          </a:p>
        </p:txBody>
      </p:sp>
      <p:sp>
        <p:nvSpPr>
          <p:cNvPr id="5" name="Text 3"/>
          <p:cNvSpPr/>
          <p:nvPr/>
        </p:nvSpPr>
        <p:spPr>
          <a:xfrm>
            <a:off x="731520" y="2103120"/>
            <a:ext cx="7772400" cy="9144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DHT11 Sensor</a:t>
            </a:r>
            <a:endParaRPr lang="en-US" sz="3600" dirty="0"/>
          </a:p>
        </p:txBody>
      </p:sp>
      <p:sp>
        <p:nvSpPr>
          <p:cNvPr id="6" name="Text 4"/>
          <p:cNvSpPr/>
          <p:nvPr/>
        </p:nvSpPr>
        <p:spPr>
          <a:xfrm>
            <a:off x="731520" y="3017520"/>
            <a:ext cx="6858000" cy="640080"/>
          </a:xfrm>
          <a:prstGeom prst="rect">
            <a:avLst/>
          </a:prstGeom>
          <a:noFill/>
          <a:ln/>
        </p:spPr>
        <p:txBody>
          <a:bodyPr wrap="square" rtlCol="0" anchor="ctr"/>
          <a:lstStyle/>
          <a:p>
            <a:pPr indent="0" marL="0">
              <a:buNone/>
            </a:pPr>
            <a:r>
              <a:rPr lang="en-US" sz="1600" i="1" dirty="0">
                <a:solidFill>
                  <a:srgbClr val="6B8F71"/>
                </a:solidFill>
                <a:latin typeface="Calibri" pitchFamily="34" charset="0"/>
                <a:ea typeface="Calibri" pitchFamily="34" charset="-122"/>
                <a:cs typeface="Calibri" pitchFamily="34" charset="-120"/>
              </a:rPr>
              <a:t>Temperature &amp; Humidity — GPIO 4</a:t>
            </a:r>
            <a:endParaRPr lang="en-US" sz="1600" dirty="0"/>
          </a:p>
        </p:txBody>
      </p:sp>
      <p:sp>
        <p:nvSpPr>
          <p:cNvPr id="7" name="Text 5"/>
          <p:cNvSpPr/>
          <p:nvPr/>
        </p:nvSpPr>
        <p:spPr>
          <a:xfrm>
            <a:off x="7772400" y="4480560"/>
            <a:ext cx="1097280" cy="365760"/>
          </a:xfrm>
          <a:prstGeom prst="rect">
            <a:avLst/>
          </a:prstGeom>
          <a:noFill/>
          <a:ln/>
        </p:spPr>
        <p:txBody>
          <a:bodyPr wrap="square" rtlCol="0" anchor="ctr"/>
          <a:lstStyle/>
          <a:p>
            <a:pPr algn="r" indent="0" marL="0">
              <a:buNone/>
            </a:pPr>
            <a:r>
              <a:rPr lang="en-US" sz="1100" dirty="0">
                <a:solidFill>
                  <a:srgbClr val="6B8F71"/>
                </a:solidFill>
              </a:rPr>
              <a:t>3 / 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Module 3 — DHT11 Sensor Test</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Black Box Step 3 of 4</a:t>
            </a:r>
            <a:endParaRPr lang="en-US" sz="1100" dirty="0"/>
          </a:p>
        </p:txBody>
      </p:sp>
      <p:sp>
        <p:nvSpPr>
          <p:cNvPr id="5" name="Text 3"/>
          <p:cNvSpPr/>
          <p:nvPr/>
        </p:nvSpPr>
        <p:spPr>
          <a:xfrm>
            <a:off x="365760" y="640080"/>
            <a:ext cx="8412480" cy="365760"/>
          </a:xfrm>
          <a:prstGeom prst="rect">
            <a:avLst/>
          </a:prstGeom>
          <a:noFill/>
          <a:ln/>
        </p:spPr>
        <p:txBody>
          <a:bodyPr wrap="square" rtlCol="0" anchor="ctr"/>
          <a:lstStyle/>
          <a:p>
            <a:pPr indent="0" marL="0">
              <a:buNone/>
            </a:pPr>
            <a:r>
              <a:rPr lang="en-US" sz="1200" i="1" dirty="0">
                <a:solidFill>
                  <a:srgbClr val="1B2D1E"/>
                </a:solidFill>
                <a:latin typeface="Calibri" pitchFamily="34" charset="0"/>
                <a:ea typeface="Calibri" pitchFamily="34" charset="-122"/>
                <a:cs typeface="Calibri" pitchFamily="34" charset="-120"/>
              </a:rPr>
              <a:t>Objective: Confirm DHT11 reads temperature and humidity before integrating with OLEDs.</a:t>
            </a:r>
            <a:endParaRPr lang="en-US" sz="1200" dirty="0"/>
          </a:p>
        </p:txBody>
      </p:sp>
      <p:sp>
        <p:nvSpPr>
          <p:cNvPr id="6" name="Text 4"/>
          <p:cNvSpPr/>
          <p:nvPr/>
        </p:nvSpPr>
        <p:spPr>
          <a:xfrm>
            <a:off x="365760" y="1051560"/>
            <a:ext cx="18288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Wiring</a:t>
            </a:r>
            <a:endParaRPr lang="en-US" sz="1300" dirty="0"/>
          </a:p>
        </p:txBody>
      </p:sp>
      <p:sp>
        <p:nvSpPr>
          <p:cNvPr id="7" name="Shape 5"/>
          <p:cNvSpPr/>
          <p:nvPr/>
        </p:nvSpPr>
        <p:spPr>
          <a:xfrm>
            <a:off x="274320" y="1417320"/>
            <a:ext cx="1371600" cy="347472"/>
          </a:xfrm>
          <a:prstGeom prst="rect">
            <a:avLst/>
          </a:prstGeom>
          <a:solidFill>
            <a:srgbClr val="2C5F2D"/>
          </a:solidFill>
          <a:ln w="12700">
            <a:solidFill>
              <a:srgbClr val="2C5F2D"/>
            </a:solidFill>
            <a:prstDash val="solid"/>
          </a:ln>
        </p:spPr>
      </p:sp>
      <p:sp>
        <p:nvSpPr>
          <p:cNvPr id="8" name="Text 6"/>
          <p:cNvSpPr/>
          <p:nvPr/>
        </p:nvSpPr>
        <p:spPr>
          <a:xfrm>
            <a:off x="274320" y="1417320"/>
            <a:ext cx="13716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VCC</a:t>
            </a:r>
            <a:endParaRPr lang="en-US" sz="1200" dirty="0"/>
          </a:p>
        </p:txBody>
      </p:sp>
      <p:sp>
        <p:nvSpPr>
          <p:cNvPr id="9" name="Shape 7"/>
          <p:cNvSpPr/>
          <p:nvPr/>
        </p:nvSpPr>
        <p:spPr>
          <a:xfrm>
            <a:off x="1691640" y="1417320"/>
            <a:ext cx="1463040" cy="347472"/>
          </a:xfrm>
          <a:prstGeom prst="rect">
            <a:avLst/>
          </a:prstGeom>
          <a:solidFill>
            <a:srgbClr val="4A7C59"/>
          </a:solidFill>
          <a:ln w="12700">
            <a:solidFill>
              <a:srgbClr val="4A7C59"/>
            </a:solidFill>
            <a:prstDash val="solid"/>
          </a:ln>
        </p:spPr>
      </p:sp>
      <p:sp>
        <p:nvSpPr>
          <p:cNvPr id="10" name="Text 8"/>
          <p:cNvSpPr/>
          <p:nvPr/>
        </p:nvSpPr>
        <p:spPr>
          <a:xfrm>
            <a:off x="1691640" y="1417320"/>
            <a:ext cx="14630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3.3V</a:t>
            </a:r>
            <a:endParaRPr lang="en-US" sz="1200" dirty="0"/>
          </a:p>
        </p:txBody>
      </p:sp>
      <p:sp>
        <p:nvSpPr>
          <p:cNvPr id="11" name="Shape 9"/>
          <p:cNvSpPr/>
          <p:nvPr/>
        </p:nvSpPr>
        <p:spPr>
          <a:xfrm>
            <a:off x="274320" y="1801368"/>
            <a:ext cx="1371600" cy="347472"/>
          </a:xfrm>
          <a:prstGeom prst="rect">
            <a:avLst/>
          </a:prstGeom>
          <a:solidFill>
            <a:srgbClr val="2C5F2D"/>
          </a:solidFill>
          <a:ln w="12700">
            <a:solidFill>
              <a:srgbClr val="2C5F2D"/>
            </a:solidFill>
            <a:prstDash val="solid"/>
          </a:ln>
        </p:spPr>
      </p:sp>
      <p:sp>
        <p:nvSpPr>
          <p:cNvPr id="12" name="Text 10"/>
          <p:cNvSpPr/>
          <p:nvPr/>
        </p:nvSpPr>
        <p:spPr>
          <a:xfrm>
            <a:off x="274320" y="1801368"/>
            <a:ext cx="13716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GND</a:t>
            </a:r>
            <a:endParaRPr lang="en-US" sz="1200" dirty="0"/>
          </a:p>
        </p:txBody>
      </p:sp>
      <p:sp>
        <p:nvSpPr>
          <p:cNvPr id="13" name="Shape 11"/>
          <p:cNvSpPr/>
          <p:nvPr/>
        </p:nvSpPr>
        <p:spPr>
          <a:xfrm>
            <a:off x="1691640" y="1801368"/>
            <a:ext cx="1463040" cy="347472"/>
          </a:xfrm>
          <a:prstGeom prst="rect">
            <a:avLst/>
          </a:prstGeom>
          <a:solidFill>
            <a:srgbClr val="4A7C59"/>
          </a:solidFill>
          <a:ln w="12700">
            <a:solidFill>
              <a:srgbClr val="4A7C59"/>
            </a:solidFill>
            <a:prstDash val="solid"/>
          </a:ln>
        </p:spPr>
      </p:sp>
      <p:sp>
        <p:nvSpPr>
          <p:cNvPr id="14" name="Text 12"/>
          <p:cNvSpPr/>
          <p:nvPr/>
        </p:nvSpPr>
        <p:spPr>
          <a:xfrm>
            <a:off x="1691640" y="1801368"/>
            <a:ext cx="14630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GND</a:t>
            </a:r>
            <a:endParaRPr lang="en-US" sz="1200" dirty="0"/>
          </a:p>
        </p:txBody>
      </p:sp>
      <p:sp>
        <p:nvSpPr>
          <p:cNvPr id="15" name="Shape 13"/>
          <p:cNvSpPr/>
          <p:nvPr/>
        </p:nvSpPr>
        <p:spPr>
          <a:xfrm>
            <a:off x="274320" y="2185416"/>
            <a:ext cx="1371600" cy="347472"/>
          </a:xfrm>
          <a:prstGeom prst="rect">
            <a:avLst/>
          </a:prstGeom>
          <a:solidFill>
            <a:srgbClr val="2C5F2D"/>
          </a:solidFill>
          <a:ln w="12700">
            <a:solidFill>
              <a:srgbClr val="2C5F2D"/>
            </a:solidFill>
            <a:prstDash val="solid"/>
          </a:ln>
        </p:spPr>
      </p:sp>
      <p:sp>
        <p:nvSpPr>
          <p:cNvPr id="16" name="Text 14"/>
          <p:cNvSpPr/>
          <p:nvPr/>
        </p:nvSpPr>
        <p:spPr>
          <a:xfrm>
            <a:off x="274320" y="2185416"/>
            <a:ext cx="13716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p:txBody>
      </p:sp>
      <p:sp>
        <p:nvSpPr>
          <p:cNvPr id="17" name="Shape 15"/>
          <p:cNvSpPr/>
          <p:nvPr/>
        </p:nvSpPr>
        <p:spPr>
          <a:xfrm>
            <a:off x="1691640" y="2185416"/>
            <a:ext cx="1463040" cy="347472"/>
          </a:xfrm>
          <a:prstGeom prst="rect">
            <a:avLst/>
          </a:prstGeom>
          <a:solidFill>
            <a:srgbClr val="4A7C59"/>
          </a:solidFill>
          <a:ln w="12700">
            <a:solidFill>
              <a:srgbClr val="4A7C59"/>
            </a:solidFill>
            <a:prstDash val="solid"/>
          </a:ln>
        </p:spPr>
      </p:sp>
      <p:sp>
        <p:nvSpPr>
          <p:cNvPr id="18" name="Text 16"/>
          <p:cNvSpPr/>
          <p:nvPr/>
        </p:nvSpPr>
        <p:spPr>
          <a:xfrm>
            <a:off x="1691640" y="2185416"/>
            <a:ext cx="14630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GPIO 4</a:t>
            </a:r>
            <a:endParaRPr lang="en-US" sz="1200" dirty="0"/>
          </a:p>
        </p:txBody>
      </p:sp>
      <p:sp>
        <p:nvSpPr>
          <p:cNvPr id="19" name="Shape 17"/>
          <p:cNvSpPr/>
          <p:nvPr/>
        </p:nvSpPr>
        <p:spPr>
          <a:xfrm>
            <a:off x="274320" y="2596896"/>
            <a:ext cx="2880360" cy="411480"/>
          </a:xfrm>
          <a:prstGeom prst="rect">
            <a:avLst/>
          </a:prstGeom>
          <a:solidFill>
            <a:srgbClr val="E8F5E9"/>
          </a:solidFill>
          <a:ln w="12700">
            <a:solidFill>
              <a:srgbClr val="4A7C59"/>
            </a:solidFill>
            <a:prstDash val="solid"/>
          </a:ln>
        </p:spPr>
      </p:sp>
      <p:sp>
        <p:nvSpPr>
          <p:cNvPr id="20" name="Text 18"/>
          <p:cNvSpPr/>
          <p:nvPr/>
        </p:nvSpPr>
        <p:spPr>
          <a:xfrm>
            <a:off x="365760" y="2624328"/>
            <a:ext cx="2651760" cy="384048"/>
          </a:xfrm>
          <a:prstGeom prst="rect">
            <a:avLst/>
          </a:prstGeom>
          <a:noFill/>
          <a:ln/>
        </p:spPr>
        <p:txBody>
          <a:bodyPr wrap="square" rtlCol="0" anchor="ctr"/>
          <a:lstStyle/>
          <a:p>
            <a:pPr indent="0" marL="0">
              <a:buNone/>
            </a:pPr>
            <a:r>
              <a:rPr lang="en-US" sz="950" dirty="0">
                <a:solidFill>
                  <a:srgbClr val="2C5F2D"/>
                </a:solidFill>
                <a:latin typeface="Calibri" pitchFamily="34" charset="0"/>
                <a:ea typeface="Calibri" pitchFamily="34" charset="-122"/>
                <a:cs typeface="Calibri" pitchFamily="34" charset="-120"/>
              </a:rPr>
              <a:t>Note: Add 10kΩ pull-up resistor</a:t>
            </a:r>
            <a:endParaRPr lang="en-US" sz="950" dirty="0"/>
          </a:p>
          <a:p>
            <a:pPr indent="0" marL="0">
              <a:buNone/>
            </a:pPr>
            <a:r>
              <a:rPr lang="en-US" sz="950" dirty="0">
                <a:solidFill>
                  <a:srgbClr val="2C5F2D"/>
                </a:solidFill>
                <a:latin typeface="Calibri" pitchFamily="34" charset="0"/>
                <a:ea typeface="Calibri" pitchFamily="34" charset="-122"/>
                <a:cs typeface="Calibri" pitchFamily="34" charset="-120"/>
              </a:rPr>
              <a:t>between DATA and 3.3V if errors occur</a:t>
            </a:r>
            <a:endParaRPr lang="en-US" sz="950" dirty="0"/>
          </a:p>
        </p:txBody>
      </p:sp>
      <p:sp>
        <p:nvSpPr>
          <p:cNvPr id="21" name="Text 19"/>
          <p:cNvSpPr/>
          <p:nvPr/>
        </p:nvSpPr>
        <p:spPr>
          <a:xfrm>
            <a:off x="3474720" y="1051560"/>
            <a:ext cx="45720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Test Code</a:t>
            </a:r>
            <a:endParaRPr lang="en-US" sz="1300" dirty="0"/>
          </a:p>
        </p:txBody>
      </p:sp>
      <p:sp>
        <p:nvSpPr>
          <p:cNvPr id="22" name="Shape 20"/>
          <p:cNvSpPr/>
          <p:nvPr/>
        </p:nvSpPr>
        <p:spPr>
          <a:xfrm>
            <a:off x="3383280" y="1371600"/>
            <a:ext cx="5394960" cy="1645920"/>
          </a:xfrm>
          <a:prstGeom prst="rect">
            <a:avLst/>
          </a:prstGeom>
          <a:solidFill>
            <a:srgbClr val="0D1117"/>
          </a:solidFill>
          <a:ln w="19050">
            <a:solidFill>
              <a:srgbClr val="4A7C59"/>
            </a:solidFill>
            <a:prstDash val="solid"/>
          </a:ln>
          <a:effectLst>
            <a:outerShdw sx="100000" sy="100000" kx="0" ky="0" algn="bl" rotWithShape="0" blurRad="76200" dist="25400" dir="8100000">
              <a:srgbClr val="000000">
                <a:alpha val="12000"/>
              </a:srgbClr>
            </a:outerShdw>
          </a:effectLst>
        </p:spPr>
      </p:sp>
      <p:sp>
        <p:nvSpPr>
          <p:cNvPr id="23" name="Text 21"/>
          <p:cNvSpPr/>
          <p:nvPr/>
        </p:nvSpPr>
        <p:spPr>
          <a:xfrm>
            <a:off x="3520440" y="1463040"/>
            <a:ext cx="5120640" cy="1463040"/>
          </a:xfrm>
          <a:prstGeom prst="rect">
            <a:avLst/>
          </a:prstGeom>
          <a:noFill/>
          <a:ln/>
        </p:spPr>
        <p:txBody>
          <a:bodyPr wrap="square" rtlCol="0" anchor="t"/>
          <a:lstStyle/>
          <a:p>
            <a:pPr indent="0" marL="0">
              <a:buNone/>
            </a:pPr>
            <a:r>
              <a:rPr lang="en-US" sz="1000" dirty="0">
                <a:solidFill>
                  <a:srgbClr val="A8D8A8"/>
                </a:solidFill>
                <a:latin typeface="Consolas" pitchFamily="34" charset="0"/>
                <a:ea typeface="Consolas" pitchFamily="34" charset="-122"/>
                <a:cs typeface="Consolas" pitchFamily="34" charset="-120"/>
              </a:rPr>
              <a:t>import dht
import time
from machine import Pin
</a:t>
            </a:r>
            <a:pPr indent="0" marL="0">
              <a:buNone/>
            </a:pPr>
            <a:r>
              <a:rPr lang="en-US" sz="1000" dirty="0">
                <a:solidFill>
                  <a:srgbClr val="7EC8E3"/>
                </a:solidFill>
                <a:latin typeface="Consolas" pitchFamily="34" charset="0"/>
                <a:ea typeface="Consolas" pitchFamily="34" charset="-122"/>
                <a:cs typeface="Consolas" pitchFamily="34" charset="-120"/>
              </a:rPr>
              <a:t>sensor = dht.DHT11(Pin(4))
</a:t>
            </a:r>
            <a:pPr indent="0" marL="0">
              <a:buNone/>
            </a:pPr>
            <a:r>
              <a:rPr lang="en-US" sz="1000" dirty="0">
                <a:solidFill>
                  <a:srgbClr val="A8D8A8"/>
                </a:solidFill>
                <a:latin typeface="Consolas" pitchFamily="34" charset="0"/>
                <a:ea typeface="Consolas" pitchFamily="34" charset="-122"/>
                <a:cs typeface="Consolas" pitchFamily="34" charset="-120"/>
              </a:rPr>
              <a:t>while True:
</a:t>
            </a:r>
            <a:pPr indent="0" marL="0">
              <a:buNone/>
            </a:pPr>
            <a:r>
              <a:rPr lang="en-US" sz="1000" dirty="0">
                <a:solidFill>
                  <a:srgbClr val="A8D8A8"/>
                </a:solidFill>
                <a:latin typeface="Consolas" pitchFamily="34" charset="0"/>
                <a:ea typeface="Consolas" pitchFamily="34" charset="-122"/>
                <a:cs typeface="Consolas" pitchFamily="34" charset="-120"/>
              </a:rPr>
              <a:t>    sensor.measure()
</a:t>
            </a:r>
            <a:pPr indent="0" marL="0">
              <a:buNone/>
            </a:pPr>
            <a:r>
              <a:rPr lang="en-US" sz="1000" dirty="0">
                <a:solidFill>
                  <a:srgbClr val="7EC8E3"/>
                </a:solidFill>
                <a:latin typeface="Consolas" pitchFamily="34" charset="0"/>
                <a:ea typeface="Consolas" pitchFamily="34" charset="-122"/>
                <a:cs typeface="Consolas" pitchFamily="34" charset="-120"/>
              </a:rPr>
              <a:t>    temp = sensor.temperature()
    hum  = sensor.humidity()
</a:t>
            </a:r>
            <a:pPr indent="0" marL="0">
              <a:buNone/>
            </a:pPr>
            <a:r>
              <a:rPr lang="en-US" sz="1000" dirty="0">
                <a:solidFill>
                  <a:srgbClr val="A8D8A8"/>
                </a:solidFill>
                <a:latin typeface="Consolas" pitchFamily="34" charset="0"/>
                <a:ea typeface="Consolas" pitchFamily="34" charset="-122"/>
                <a:cs typeface="Consolas" pitchFamily="34" charset="-120"/>
              </a:rPr>
              <a:t>    print("Temp: {}C  Hum: {}%"</a:t>
            </a:r>
            <a:pPr indent="0" marL="0">
              <a:buNone/>
            </a:pPr>
            <a:r>
              <a:rPr lang="en-US" sz="1000" dirty="0">
                <a:solidFill>
                  <a:srgbClr val="A8D8A8"/>
                </a:solidFill>
                <a:latin typeface="Consolas" pitchFamily="34" charset="0"/>
                <a:ea typeface="Consolas" pitchFamily="34" charset="-122"/>
                <a:cs typeface="Consolas" pitchFamily="34" charset="-120"/>
              </a:rPr>
              <a:t>
          .format(temp, hum))
</a:t>
            </a:r>
            <a:pPr indent="0" marL="0">
              <a:buNone/>
            </a:pPr>
            <a:r>
              <a:rPr lang="en-US" sz="1000" dirty="0">
                <a:solidFill>
                  <a:srgbClr val="A8D8A8"/>
                </a:solidFill>
                <a:latin typeface="Consolas" pitchFamily="34" charset="0"/>
                <a:ea typeface="Consolas" pitchFamily="34" charset="-122"/>
                <a:cs typeface="Consolas" pitchFamily="34" charset="-120"/>
              </a:rPr>
              <a:t>    time.sleep(2)</a:t>
            </a:r>
            <a:endParaRPr lang="en-US" sz="1000" dirty="0"/>
          </a:p>
        </p:txBody>
      </p:sp>
      <p:sp>
        <p:nvSpPr>
          <p:cNvPr id="24" name="Shape 22"/>
          <p:cNvSpPr/>
          <p:nvPr/>
        </p:nvSpPr>
        <p:spPr>
          <a:xfrm>
            <a:off x="3383280" y="3063240"/>
            <a:ext cx="5394960" cy="365760"/>
          </a:xfrm>
          <a:prstGeom prst="rect">
            <a:avLst/>
          </a:prstGeom>
          <a:solidFill>
            <a:srgbClr val="E8F5E9"/>
          </a:solidFill>
          <a:ln w="12700">
            <a:solidFill>
              <a:srgbClr val="4A7C59"/>
            </a:solidFill>
            <a:prstDash val="solid"/>
          </a:ln>
        </p:spPr>
      </p:sp>
      <p:sp>
        <p:nvSpPr>
          <p:cNvPr id="25" name="Text 23"/>
          <p:cNvSpPr/>
          <p:nvPr/>
        </p:nvSpPr>
        <p:spPr>
          <a:xfrm>
            <a:off x="3566160" y="3063240"/>
            <a:ext cx="5029200" cy="365760"/>
          </a:xfrm>
          <a:prstGeom prst="rect">
            <a:avLst/>
          </a:prstGeom>
          <a:noFill/>
          <a:ln/>
        </p:spPr>
        <p:txBody>
          <a:bodyPr wrap="square" lIns="0" tIns="0" rIns="0" bIns="0" rtlCol="0" anchor="ctr"/>
          <a:lstStyle/>
          <a:p>
            <a:pPr indent="0" marL="0">
              <a:buNone/>
            </a:pPr>
            <a:r>
              <a:rPr lang="en-US" sz="1050" dirty="0">
                <a:solidFill>
                  <a:srgbClr val="2C5F2D"/>
                </a:solidFill>
                <a:latin typeface="Consolas" pitchFamily="34" charset="0"/>
                <a:ea typeface="Consolas" pitchFamily="34" charset="-122"/>
                <a:cs typeface="Consolas" pitchFamily="34" charset="-120"/>
              </a:rPr>
              <a:t>✓  Expected: Temp: 25C  Hum: 45%  (values will vary with room conditions)</a:t>
            </a:r>
            <a:endParaRPr lang="en-US" sz="1050" dirty="0"/>
          </a:p>
        </p:txBody>
      </p:sp>
      <p:sp>
        <p:nvSpPr>
          <p:cNvPr id="26" name="Text 24"/>
          <p:cNvSpPr/>
          <p:nvPr/>
        </p:nvSpPr>
        <p:spPr>
          <a:xfrm>
            <a:off x="365760" y="3520440"/>
            <a:ext cx="82296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Troubleshooting</a:t>
            </a:r>
            <a:endParaRPr lang="en-US" sz="1300" dirty="0"/>
          </a:p>
        </p:txBody>
      </p:sp>
      <p:sp>
        <p:nvSpPr>
          <p:cNvPr id="27" name="Shape 25"/>
          <p:cNvSpPr/>
          <p:nvPr/>
        </p:nvSpPr>
        <p:spPr>
          <a:xfrm>
            <a:off x="274320" y="3886200"/>
            <a:ext cx="8595360" cy="384048"/>
          </a:xfrm>
          <a:prstGeom prst="rect">
            <a:avLst/>
          </a:prstGeom>
          <a:solidFill>
            <a:srgbClr val="FFF8E1"/>
          </a:solidFill>
          <a:ln w="6350">
            <a:solidFill>
              <a:srgbClr val="FFE082"/>
            </a:solidFill>
            <a:prstDash val="solid"/>
          </a:ln>
        </p:spPr>
      </p:sp>
      <p:sp>
        <p:nvSpPr>
          <p:cNvPr id="28" name="Text 26"/>
          <p:cNvSpPr/>
          <p:nvPr/>
        </p:nvSpPr>
        <p:spPr>
          <a:xfrm>
            <a:off x="411480" y="3886200"/>
            <a:ext cx="3200400" cy="384048"/>
          </a:xfrm>
          <a:prstGeom prst="rect">
            <a:avLst/>
          </a:prstGeom>
          <a:noFill/>
          <a:ln/>
        </p:spPr>
        <p:txBody>
          <a:bodyPr wrap="square" lIns="0" tIns="0" rIns="0" bIns="0" rtlCol="0" anchor="ctr"/>
          <a:lstStyle/>
          <a:p>
            <a:pPr indent="0" marL="0">
              <a:buNone/>
            </a:pPr>
            <a:r>
              <a:rPr lang="en-US" sz="1050" b="1" dirty="0">
                <a:solidFill>
                  <a:srgbClr val="E8873A"/>
                </a:solidFill>
                <a:latin typeface="Calibri" pitchFamily="34" charset="0"/>
                <a:ea typeface="Calibri" pitchFamily="34" charset="-122"/>
                <a:cs typeface="Calibri" pitchFamily="34" charset="-120"/>
              </a:rPr>
              <a:t>⚡ ETIMEDOUT error</a:t>
            </a:r>
            <a:endParaRPr lang="en-US" sz="1050" dirty="0"/>
          </a:p>
        </p:txBody>
      </p:sp>
      <p:sp>
        <p:nvSpPr>
          <p:cNvPr id="29" name="Text 27"/>
          <p:cNvSpPr/>
          <p:nvPr/>
        </p:nvSpPr>
        <p:spPr>
          <a:xfrm>
            <a:off x="3657600" y="3886200"/>
            <a:ext cx="5029200" cy="384048"/>
          </a:xfrm>
          <a:prstGeom prst="rect">
            <a:avLst/>
          </a:prstGeom>
          <a:noFill/>
          <a:ln/>
        </p:spPr>
        <p:txBody>
          <a:bodyPr wrap="square" lIns="0" tIns="0" rIns="0" bIns="0" rtlCol="0" anchor="ctr"/>
          <a:lstStyle/>
          <a:p>
            <a:pPr indent="0" marL="0">
              <a:buNone/>
            </a:pPr>
            <a:r>
              <a:rPr lang="en-US" sz="1050" dirty="0">
                <a:solidFill>
                  <a:srgbClr val="1B2D1E"/>
                </a:solidFill>
                <a:latin typeface="Calibri" pitchFamily="34" charset="0"/>
                <a:ea typeface="Calibri" pitchFamily="34" charset="-122"/>
                <a:cs typeface="Calibri" pitchFamily="34" charset="-120"/>
              </a:rPr>
              <a:t>→  Wrong pin — try the pin scan test. Add 10kΩ pull-up resistor</a:t>
            </a:r>
            <a:endParaRPr lang="en-US" sz="1050" dirty="0"/>
          </a:p>
        </p:txBody>
      </p:sp>
      <p:sp>
        <p:nvSpPr>
          <p:cNvPr id="30" name="Shape 28"/>
          <p:cNvSpPr/>
          <p:nvPr/>
        </p:nvSpPr>
        <p:spPr>
          <a:xfrm>
            <a:off x="274320" y="4325112"/>
            <a:ext cx="8595360" cy="384048"/>
          </a:xfrm>
          <a:prstGeom prst="rect">
            <a:avLst/>
          </a:prstGeom>
          <a:solidFill>
            <a:srgbClr val="FFFDE7"/>
          </a:solidFill>
          <a:ln w="6350">
            <a:solidFill>
              <a:srgbClr val="FFE082"/>
            </a:solidFill>
            <a:prstDash val="solid"/>
          </a:ln>
        </p:spPr>
      </p:sp>
      <p:sp>
        <p:nvSpPr>
          <p:cNvPr id="31" name="Text 29"/>
          <p:cNvSpPr/>
          <p:nvPr/>
        </p:nvSpPr>
        <p:spPr>
          <a:xfrm>
            <a:off x="411480" y="4325112"/>
            <a:ext cx="3200400" cy="384048"/>
          </a:xfrm>
          <a:prstGeom prst="rect">
            <a:avLst/>
          </a:prstGeom>
          <a:noFill/>
          <a:ln/>
        </p:spPr>
        <p:txBody>
          <a:bodyPr wrap="square" lIns="0" tIns="0" rIns="0" bIns="0" rtlCol="0" anchor="ctr"/>
          <a:lstStyle/>
          <a:p>
            <a:pPr indent="0" marL="0">
              <a:buNone/>
            </a:pPr>
            <a:r>
              <a:rPr lang="en-US" sz="1050" b="1" dirty="0">
                <a:solidFill>
                  <a:srgbClr val="E8873A"/>
                </a:solidFill>
                <a:latin typeface="Calibri" pitchFamily="34" charset="0"/>
                <a:ea typeface="Calibri" pitchFamily="34" charset="-122"/>
                <a:cs typeface="Calibri" pitchFamily="34" charset="-120"/>
              </a:rPr>
              <a:t>⚡ Bad sensor</a:t>
            </a:r>
            <a:endParaRPr lang="en-US" sz="1050" dirty="0"/>
          </a:p>
        </p:txBody>
      </p:sp>
      <p:sp>
        <p:nvSpPr>
          <p:cNvPr id="32" name="Text 30"/>
          <p:cNvSpPr/>
          <p:nvPr/>
        </p:nvSpPr>
        <p:spPr>
          <a:xfrm>
            <a:off x="3657600" y="4325112"/>
            <a:ext cx="5029200" cy="384048"/>
          </a:xfrm>
          <a:prstGeom prst="rect">
            <a:avLst/>
          </a:prstGeom>
          <a:noFill/>
          <a:ln/>
        </p:spPr>
        <p:txBody>
          <a:bodyPr wrap="square" lIns="0" tIns="0" rIns="0" bIns="0" rtlCol="0" anchor="ctr"/>
          <a:lstStyle/>
          <a:p>
            <a:pPr indent="0" marL="0">
              <a:buNone/>
            </a:pPr>
            <a:r>
              <a:rPr lang="en-US" sz="1050" dirty="0">
                <a:solidFill>
                  <a:srgbClr val="1B2D1E"/>
                </a:solidFill>
                <a:latin typeface="Calibri" pitchFamily="34" charset="0"/>
                <a:ea typeface="Calibri" pitchFamily="34" charset="-122"/>
                <a:cs typeface="Calibri" pitchFamily="34" charset="-120"/>
              </a:rPr>
              <a:t>→  Replace DHT11 — they fail silently. Always test with known-good sensor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2D"/>
          </a:solidFill>
          <a:ln w="12700">
            <a:solidFill>
              <a:srgbClr val="1B3A2D"/>
            </a:solidFill>
            <a:prstDash val="solid"/>
          </a:ln>
        </p:spPr>
      </p:sp>
      <p:sp>
        <p:nvSpPr>
          <p:cNvPr id="3" name="Shape 1"/>
          <p:cNvSpPr/>
          <p:nvPr/>
        </p:nvSpPr>
        <p:spPr>
          <a:xfrm>
            <a:off x="457200" y="1645920"/>
            <a:ext cx="73152" cy="1828800"/>
          </a:xfrm>
          <a:prstGeom prst="rect">
            <a:avLst/>
          </a:prstGeom>
          <a:solidFill>
            <a:srgbClr val="97BC62"/>
          </a:solidFill>
          <a:ln w="12700">
            <a:solidFill>
              <a:srgbClr val="97BC62"/>
            </a:solidFill>
            <a:prstDash val="solid"/>
          </a:ln>
        </p:spPr>
      </p:sp>
      <p:sp>
        <p:nvSpPr>
          <p:cNvPr id="4" name="Text 2"/>
          <p:cNvSpPr/>
          <p:nvPr/>
        </p:nvSpPr>
        <p:spPr>
          <a:xfrm>
            <a:off x="731520" y="1645920"/>
            <a:ext cx="7315200" cy="457200"/>
          </a:xfrm>
          <a:prstGeom prst="rect">
            <a:avLst/>
          </a:prstGeom>
          <a:noFill/>
          <a:ln/>
        </p:spPr>
        <p:txBody>
          <a:bodyPr wrap="square"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MODULE 4</a:t>
            </a:r>
            <a:endParaRPr lang="en-US" sz="1300" dirty="0"/>
          </a:p>
        </p:txBody>
      </p:sp>
      <p:sp>
        <p:nvSpPr>
          <p:cNvPr id="5" name="Text 3"/>
          <p:cNvSpPr/>
          <p:nvPr/>
        </p:nvSpPr>
        <p:spPr>
          <a:xfrm>
            <a:off x="731520" y="2103120"/>
            <a:ext cx="7772400" cy="9144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Capacitive Moisture Sensor</a:t>
            </a:r>
            <a:endParaRPr lang="en-US" sz="3600" dirty="0"/>
          </a:p>
        </p:txBody>
      </p:sp>
      <p:sp>
        <p:nvSpPr>
          <p:cNvPr id="6" name="Text 4"/>
          <p:cNvSpPr/>
          <p:nvPr/>
        </p:nvSpPr>
        <p:spPr>
          <a:xfrm>
            <a:off x="731520" y="3017520"/>
            <a:ext cx="6858000" cy="640080"/>
          </a:xfrm>
          <a:prstGeom prst="rect">
            <a:avLst/>
          </a:prstGeom>
          <a:noFill/>
          <a:ln/>
        </p:spPr>
        <p:txBody>
          <a:bodyPr wrap="square" rtlCol="0" anchor="ctr"/>
          <a:lstStyle/>
          <a:p>
            <a:pPr indent="0" marL="0">
              <a:buNone/>
            </a:pPr>
            <a:r>
              <a:rPr lang="en-US" sz="1600" i="1" dirty="0">
                <a:solidFill>
                  <a:srgbClr val="6B8F71"/>
                </a:solidFill>
                <a:latin typeface="Calibri" pitchFamily="34" charset="0"/>
                <a:ea typeface="Calibri" pitchFamily="34" charset="-122"/>
                <a:cs typeface="Calibri" pitchFamily="34" charset="-120"/>
              </a:rPr>
              <a:t>Soil Moisture — GPIO 32 (ADC)</a:t>
            </a:r>
            <a:endParaRPr lang="en-US" sz="1600" dirty="0"/>
          </a:p>
        </p:txBody>
      </p:sp>
      <p:sp>
        <p:nvSpPr>
          <p:cNvPr id="7" name="Text 5"/>
          <p:cNvSpPr/>
          <p:nvPr/>
        </p:nvSpPr>
        <p:spPr>
          <a:xfrm>
            <a:off x="7772400" y="4480560"/>
            <a:ext cx="1097280" cy="365760"/>
          </a:xfrm>
          <a:prstGeom prst="rect">
            <a:avLst/>
          </a:prstGeom>
          <a:noFill/>
          <a:ln/>
        </p:spPr>
        <p:txBody>
          <a:bodyPr wrap="square" rtlCol="0" anchor="ctr"/>
          <a:lstStyle/>
          <a:p>
            <a:pPr algn="r" indent="0" marL="0">
              <a:buNone/>
            </a:pPr>
            <a:r>
              <a:rPr lang="en-US" sz="1100" dirty="0">
                <a:solidFill>
                  <a:srgbClr val="6B8F71"/>
                </a:solidFill>
              </a:rPr>
              <a:t>4 / 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Module 4 — Moisture Sensor Test</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Black Box Step 4 of 4</a:t>
            </a:r>
            <a:endParaRPr lang="en-US" sz="1100" dirty="0"/>
          </a:p>
        </p:txBody>
      </p:sp>
      <p:sp>
        <p:nvSpPr>
          <p:cNvPr id="5" name="Text 3"/>
          <p:cNvSpPr/>
          <p:nvPr/>
        </p:nvSpPr>
        <p:spPr>
          <a:xfrm>
            <a:off x="365760" y="640080"/>
            <a:ext cx="8412480" cy="365760"/>
          </a:xfrm>
          <a:prstGeom prst="rect">
            <a:avLst/>
          </a:prstGeom>
          <a:noFill/>
          <a:ln/>
        </p:spPr>
        <p:txBody>
          <a:bodyPr wrap="square" rtlCol="0" anchor="ctr"/>
          <a:lstStyle/>
          <a:p>
            <a:pPr indent="0" marL="0">
              <a:buNone/>
            </a:pPr>
            <a:r>
              <a:rPr lang="en-US" sz="1200" i="1" dirty="0">
                <a:solidFill>
                  <a:srgbClr val="1B2D1E"/>
                </a:solidFill>
                <a:latin typeface="Calibri" pitchFamily="34" charset="0"/>
                <a:ea typeface="Calibri" pitchFamily="34" charset="-122"/>
                <a:cs typeface="Calibri" pitchFamily="34" charset="-120"/>
              </a:rPr>
              <a:t>Objective: Confirm the capacitive moisture sensor reads correctly and calibrate dry/wet values.</a:t>
            </a:r>
            <a:endParaRPr lang="en-US" sz="1200" dirty="0"/>
          </a:p>
        </p:txBody>
      </p:sp>
      <p:sp>
        <p:nvSpPr>
          <p:cNvPr id="6" name="Text 4"/>
          <p:cNvSpPr/>
          <p:nvPr/>
        </p:nvSpPr>
        <p:spPr>
          <a:xfrm>
            <a:off x="274320" y="1005840"/>
            <a:ext cx="8595360" cy="320040"/>
          </a:xfrm>
          <a:prstGeom prst="rect">
            <a:avLst/>
          </a:prstGeom>
          <a:noFill/>
          <a:ln/>
        </p:spPr>
        <p:txBody>
          <a:bodyPr wrap="square" rtlCol="0" anchor="ctr"/>
          <a:lstStyle/>
          <a:p>
            <a:pPr indent="0" marL="0">
              <a:buNone/>
            </a:pPr>
            <a:r>
              <a:rPr lang="en-US" sz="1100" b="1" dirty="0">
                <a:solidFill>
                  <a:srgbClr val="E8873A"/>
                </a:solidFill>
                <a:latin typeface="Calibri" pitchFamily="34" charset="0"/>
                <a:ea typeface="Calibri" pitchFamily="34" charset="-122"/>
                <a:cs typeface="Calibri" pitchFamily="34" charset="-120"/>
              </a:rPr>
              <a:t>USE DIYS TLC555I sensor -- TLC555I sensor — cheap v1.2 clones have known quality issues</a:t>
            </a:r>
            <a:endParaRPr lang="en-US" sz="1100" dirty="0"/>
          </a:p>
        </p:txBody>
      </p:sp>
      <p:sp>
        <p:nvSpPr>
          <p:cNvPr id="7" name="Text 5"/>
          <p:cNvSpPr/>
          <p:nvPr/>
        </p:nvSpPr>
        <p:spPr>
          <a:xfrm>
            <a:off x="365760" y="1371600"/>
            <a:ext cx="41148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Pin Order (left to right):</a:t>
            </a:r>
            <a:endParaRPr lang="en-US" sz="1300" dirty="0"/>
          </a:p>
        </p:txBody>
      </p:sp>
      <p:sp>
        <p:nvSpPr>
          <p:cNvPr id="8" name="Shape 6"/>
          <p:cNvSpPr/>
          <p:nvPr/>
        </p:nvSpPr>
        <p:spPr>
          <a:xfrm>
            <a:off x="274320" y="1737360"/>
            <a:ext cx="1097280" cy="347472"/>
          </a:xfrm>
          <a:prstGeom prst="rect">
            <a:avLst/>
          </a:prstGeom>
          <a:solidFill>
            <a:srgbClr val="2C5F2D"/>
          </a:solidFill>
          <a:ln w="12700">
            <a:solidFill>
              <a:srgbClr val="2C5F2D"/>
            </a:solidFill>
            <a:prstDash val="solid"/>
          </a:ln>
        </p:spPr>
      </p:sp>
      <p:sp>
        <p:nvSpPr>
          <p:cNvPr id="9" name="Text 7"/>
          <p:cNvSpPr/>
          <p:nvPr/>
        </p:nvSpPr>
        <p:spPr>
          <a:xfrm>
            <a:off x="274320" y="1737360"/>
            <a:ext cx="10972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AOUT</a:t>
            </a:r>
            <a:endParaRPr lang="en-US" sz="1100" dirty="0"/>
          </a:p>
        </p:txBody>
      </p:sp>
      <p:sp>
        <p:nvSpPr>
          <p:cNvPr id="10" name="Shape 8"/>
          <p:cNvSpPr/>
          <p:nvPr/>
        </p:nvSpPr>
        <p:spPr>
          <a:xfrm>
            <a:off x="1417320" y="1737360"/>
            <a:ext cx="1280160" cy="347472"/>
          </a:xfrm>
          <a:prstGeom prst="rect">
            <a:avLst/>
          </a:prstGeom>
          <a:solidFill>
            <a:srgbClr val="4A7C59"/>
          </a:solidFill>
          <a:ln w="12700">
            <a:solidFill>
              <a:srgbClr val="4A7C59"/>
            </a:solidFill>
            <a:prstDash val="solid"/>
          </a:ln>
        </p:spPr>
      </p:sp>
      <p:sp>
        <p:nvSpPr>
          <p:cNvPr id="11" name="Text 9"/>
          <p:cNvSpPr/>
          <p:nvPr/>
        </p:nvSpPr>
        <p:spPr>
          <a:xfrm>
            <a:off x="1417320" y="1737360"/>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GPIO 32</a:t>
            </a:r>
            <a:endParaRPr lang="en-US" sz="1000" dirty="0"/>
          </a:p>
        </p:txBody>
      </p:sp>
      <p:sp>
        <p:nvSpPr>
          <p:cNvPr id="12" name="Text 10"/>
          <p:cNvSpPr/>
          <p:nvPr/>
        </p:nvSpPr>
        <p:spPr>
          <a:xfrm>
            <a:off x="2743200" y="1737360"/>
            <a:ext cx="1645920" cy="347472"/>
          </a:xfrm>
          <a:prstGeom prst="rect">
            <a:avLst/>
          </a:prstGeom>
          <a:noFill/>
          <a:ln/>
        </p:spPr>
        <p:txBody>
          <a:bodyPr wrap="square" rtlCol="0" anchor="ctr"/>
          <a:lstStyle/>
          <a:p>
            <a:pPr indent="0" marL="0">
              <a:buNone/>
            </a:pPr>
            <a:r>
              <a:rPr lang="en-US" sz="950" dirty="0">
                <a:solidFill>
                  <a:srgbClr val="6B8F71"/>
                </a:solidFill>
                <a:latin typeface="Calibri" pitchFamily="34" charset="0"/>
                <a:ea typeface="Calibri" pitchFamily="34" charset="-122"/>
                <a:cs typeface="Calibri" pitchFamily="34" charset="-120"/>
              </a:rPr>
              <a:t>Analog signal output</a:t>
            </a:r>
            <a:endParaRPr lang="en-US" sz="950" dirty="0"/>
          </a:p>
        </p:txBody>
      </p:sp>
      <p:sp>
        <p:nvSpPr>
          <p:cNvPr id="13" name="Shape 11"/>
          <p:cNvSpPr/>
          <p:nvPr/>
        </p:nvSpPr>
        <p:spPr>
          <a:xfrm>
            <a:off x="274320" y="2121408"/>
            <a:ext cx="1097280" cy="347472"/>
          </a:xfrm>
          <a:prstGeom prst="rect">
            <a:avLst/>
          </a:prstGeom>
          <a:solidFill>
            <a:srgbClr val="2C5F2D"/>
          </a:solidFill>
          <a:ln w="12700">
            <a:solidFill>
              <a:srgbClr val="2C5F2D"/>
            </a:solidFill>
            <a:prstDash val="solid"/>
          </a:ln>
        </p:spPr>
      </p:sp>
      <p:sp>
        <p:nvSpPr>
          <p:cNvPr id="14" name="Text 12"/>
          <p:cNvSpPr/>
          <p:nvPr/>
        </p:nvSpPr>
        <p:spPr>
          <a:xfrm>
            <a:off x="274320" y="2121408"/>
            <a:ext cx="10972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GND</a:t>
            </a:r>
            <a:endParaRPr lang="en-US" sz="1100" dirty="0"/>
          </a:p>
        </p:txBody>
      </p:sp>
      <p:sp>
        <p:nvSpPr>
          <p:cNvPr id="15" name="Shape 13"/>
          <p:cNvSpPr/>
          <p:nvPr/>
        </p:nvSpPr>
        <p:spPr>
          <a:xfrm>
            <a:off x="1417320" y="2121408"/>
            <a:ext cx="1280160" cy="347472"/>
          </a:xfrm>
          <a:prstGeom prst="rect">
            <a:avLst/>
          </a:prstGeom>
          <a:solidFill>
            <a:srgbClr val="4A7C59"/>
          </a:solidFill>
          <a:ln w="12700">
            <a:solidFill>
              <a:srgbClr val="4A7C59"/>
            </a:solidFill>
            <a:prstDash val="solid"/>
          </a:ln>
        </p:spPr>
      </p:sp>
      <p:sp>
        <p:nvSpPr>
          <p:cNvPr id="16" name="Text 14"/>
          <p:cNvSpPr/>
          <p:nvPr/>
        </p:nvSpPr>
        <p:spPr>
          <a:xfrm>
            <a:off x="1417320" y="212140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GND</a:t>
            </a:r>
            <a:endParaRPr lang="en-US" sz="1000" dirty="0"/>
          </a:p>
        </p:txBody>
      </p:sp>
      <p:sp>
        <p:nvSpPr>
          <p:cNvPr id="17" name="Text 15"/>
          <p:cNvSpPr/>
          <p:nvPr/>
        </p:nvSpPr>
        <p:spPr>
          <a:xfrm>
            <a:off x="2743200" y="2121408"/>
            <a:ext cx="1645920" cy="347472"/>
          </a:xfrm>
          <a:prstGeom prst="rect">
            <a:avLst/>
          </a:prstGeom>
          <a:noFill/>
          <a:ln/>
        </p:spPr>
        <p:txBody>
          <a:bodyPr wrap="square" rtlCol="0" anchor="ctr"/>
          <a:lstStyle/>
          <a:p>
            <a:pPr indent="0" marL="0">
              <a:buNone/>
            </a:pPr>
            <a:endParaRPr lang="en-US" sz="950" dirty="0"/>
          </a:p>
        </p:txBody>
      </p:sp>
      <p:sp>
        <p:nvSpPr>
          <p:cNvPr id="18" name="Shape 16"/>
          <p:cNvSpPr/>
          <p:nvPr/>
        </p:nvSpPr>
        <p:spPr>
          <a:xfrm>
            <a:off x="274320" y="2505456"/>
            <a:ext cx="1097280" cy="347472"/>
          </a:xfrm>
          <a:prstGeom prst="rect">
            <a:avLst/>
          </a:prstGeom>
          <a:solidFill>
            <a:srgbClr val="2C5F2D"/>
          </a:solidFill>
          <a:ln w="12700">
            <a:solidFill>
              <a:srgbClr val="2C5F2D"/>
            </a:solidFill>
            <a:prstDash val="solid"/>
          </a:ln>
        </p:spPr>
      </p:sp>
      <p:sp>
        <p:nvSpPr>
          <p:cNvPr id="19" name="Text 17"/>
          <p:cNvSpPr/>
          <p:nvPr/>
        </p:nvSpPr>
        <p:spPr>
          <a:xfrm>
            <a:off x="274320" y="2505456"/>
            <a:ext cx="10972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VCC</a:t>
            </a:r>
            <a:endParaRPr lang="en-US" sz="1100" dirty="0"/>
          </a:p>
        </p:txBody>
      </p:sp>
      <p:sp>
        <p:nvSpPr>
          <p:cNvPr id="20" name="Shape 18"/>
          <p:cNvSpPr/>
          <p:nvPr/>
        </p:nvSpPr>
        <p:spPr>
          <a:xfrm>
            <a:off x="1417320" y="2505456"/>
            <a:ext cx="1280160" cy="347472"/>
          </a:xfrm>
          <a:prstGeom prst="rect">
            <a:avLst/>
          </a:prstGeom>
          <a:solidFill>
            <a:srgbClr val="4A7C59"/>
          </a:solidFill>
          <a:ln w="12700">
            <a:solidFill>
              <a:srgbClr val="4A7C59"/>
            </a:solidFill>
            <a:prstDash val="solid"/>
          </a:ln>
        </p:spPr>
      </p:sp>
      <p:sp>
        <p:nvSpPr>
          <p:cNvPr id="21" name="Text 19"/>
          <p:cNvSpPr/>
          <p:nvPr/>
        </p:nvSpPr>
        <p:spPr>
          <a:xfrm>
            <a:off x="1417320" y="2505456"/>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5V (VIN)</a:t>
            </a:r>
            <a:endParaRPr lang="en-US" sz="1000" dirty="0"/>
          </a:p>
        </p:txBody>
      </p:sp>
      <p:sp>
        <p:nvSpPr>
          <p:cNvPr id="22" name="Text 20"/>
          <p:cNvSpPr/>
          <p:nvPr/>
        </p:nvSpPr>
        <p:spPr>
          <a:xfrm>
            <a:off x="2743200" y="2505456"/>
            <a:ext cx="1645920" cy="347472"/>
          </a:xfrm>
          <a:prstGeom prst="rect">
            <a:avLst/>
          </a:prstGeom>
          <a:noFill/>
          <a:ln/>
        </p:spPr>
        <p:txBody>
          <a:bodyPr wrap="square" rtlCol="0" anchor="ctr"/>
          <a:lstStyle/>
          <a:p>
            <a:pPr indent="0" marL="0">
              <a:buNone/>
            </a:pPr>
            <a:r>
              <a:rPr lang="en-US" sz="950" dirty="0">
                <a:solidFill>
                  <a:srgbClr val="6B8F71"/>
                </a:solidFill>
                <a:latin typeface="Calibri" pitchFamily="34" charset="0"/>
                <a:ea typeface="Calibri" pitchFamily="34" charset="-122"/>
                <a:cs typeface="Calibri" pitchFamily="34" charset="-120"/>
              </a:rPr>
              <a:t>Must be 5V — 3.3V gives weak output</a:t>
            </a:r>
            <a:endParaRPr lang="en-US" sz="950" dirty="0"/>
          </a:p>
        </p:txBody>
      </p:sp>
      <p:sp>
        <p:nvSpPr>
          <p:cNvPr id="23" name="Text 21"/>
          <p:cNvSpPr/>
          <p:nvPr/>
        </p:nvSpPr>
        <p:spPr>
          <a:xfrm>
            <a:off x="4572000" y="1371600"/>
            <a:ext cx="41148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Calibration Test</a:t>
            </a:r>
            <a:endParaRPr lang="en-US" sz="1300" dirty="0"/>
          </a:p>
        </p:txBody>
      </p:sp>
      <p:sp>
        <p:nvSpPr>
          <p:cNvPr id="24" name="Shape 22"/>
          <p:cNvSpPr/>
          <p:nvPr/>
        </p:nvSpPr>
        <p:spPr>
          <a:xfrm>
            <a:off x="4480560" y="1737360"/>
            <a:ext cx="4389120" cy="1920240"/>
          </a:xfrm>
          <a:prstGeom prst="rect">
            <a:avLst/>
          </a:prstGeom>
          <a:solidFill>
            <a:srgbClr val="0D1117"/>
          </a:solidFill>
          <a:ln w="19050">
            <a:solidFill>
              <a:srgbClr val="4A7C59"/>
            </a:solidFill>
            <a:prstDash val="solid"/>
          </a:ln>
          <a:effectLst>
            <a:outerShdw sx="100000" sy="100000" kx="0" ky="0" algn="bl" rotWithShape="0" blurRad="76200" dist="25400" dir="8100000">
              <a:srgbClr val="000000">
                <a:alpha val="12000"/>
              </a:srgbClr>
            </a:outerShdw>
          </a:effectLst>
        </p:spPr>
      </p:sp>
      <p:sp>
        <p:nvSpPr>
          <p:cNvPr id="25" name="Text 23"/>
          <p:cNvSpPr/>
          <p:nvPr/>
        </p:nvSpPr>
        <p:spPr>
          <a:xfrm>
            <a:off x="4617720" y="1828800"/>
            <a:ext cx="4114800" cy="1737360"/>
          </a:xfrm>
          <a:prstGeom prst="rect">
            <a:avLst/>
          </a:prstGeom>
          <a:noFill/>
          <a:ln/>
        </p:spPr>
        <p:txBody>
          <a:bodyPr wrap="square" rtlCol="0" anchor="t"/>
          <a:lstStyle/>
          <a:p>
            <a:pPr indent="0" marL="0">
              <a:buNone/>
            </a:pPr>
            <a:r>
              <a:rPr lang="en-US" sz="1000" dirty="0">
                <a:solidFill>
                  <a:srgbClr val="A8D8A8"/>
                </a:solidFill>
                <a:latin typeface="Consolas" pitchFamily="34" charset="0"/>
                <a:ea typeface="Consolas" pitchFamily="34" charset="-122"/>
                <a:cs typeface="Consolas" pitchFamily="34" charset="-120"/>
              </a:rPr>
              <a:t>from machine import Pin, ADC
import time
</a:t>
            </a:r>
            <a:pPr indent="0" marL="0">
              <a:buNone/>
            </a:pPr>
            <a:r>
              <a:rPr lang="en-US" sz="1000" dirty="0">
                <a:solidFill>
                  <a:srgbClr val="7EC8E3"/>
                </a:solidFill>
                <a:latin typeface="Consolas" pitchFamily="34" charset="0"/>
                <a:ea typeface="Consolas" pitchFamily="34" charset="-122"/>
                <a:cs typeface="Consolas" pitchFamily="34" charset="-120"/>
              </a:rPr>
              <a:t>adc = ADC(Pin(32))
</a:t>
            </a:r>
            <a:pPr indent="0" marL="0">
              <a:buNone/>
            </a:pPr>
            <a:r>
              <a:rPr lang="en-US" sz="1000" dirty="0">
                <a:solidFill>
                  <a:srgbClr val="7EC8E3"/>
                </a:solidFill>
                <a:latin typeface="Consolas" pitchFamily="34" charset="0"/>
                <a:ea typeface="Consolas" pitchFamily="34" charset="-122"/>
                <a:cs typeface="Consolas" pitchFamily="34" charset="-120"/>
              </a:rPr>
              <a:t>adc.atten(ADC.ATTN_11DB)
</a:t>
            </a:r>
            <a:pPr indent="0" marL="0">
              <a:buNone/>
            </a:pPr>
            <a:r>
              <a:rPr lang="en-US" sz="1000" dirty="0">
                <a:solidFill>
                  <a:srgbClr val="A8D8A8"/>
                </a:solidFill>
                <a:latin typeface="Consolas" pitchFamily="34" charset="0"/>
                <a:ea typeface="Consolas" pitchFamily="34" charset="-122"/>
                <a:cs typeface="Consolas" pitchFamily="34" charset="-120"/>
              </a:rPr>
              <a:t>print(</a:t>
            </a:r>
            <a:pPr indent="0" marL="0">
              <a:buNone/>
            </a:pPr>
            <a:r>
              <a:rPr lang="en-US" sz="1000" dirty="0">
                <a:solidFill>
                  <a:srgbClr val="CE9178"/>
                </a:solidFill>
                <a:latin typeface="Consolas" pitchFamily="34" charset="0"/>
                <a:ea typeface="Consolas" pitchFamily="34" charset="-122"/>
                <a:cs typeface="Consolas" pitchFamily="34" charset="-120"/>
              </a:rPr>
              <a:t>"IN AIR:"</a:t>
            </a:r>
            <a:pPr indent="0" marL="0">
              <a:buNone/>
            </a:pPr>
            <a:r>
              <a:rPr lang="en-US" sz="1000" dirty="0">
                <a:solidFill>
                  <a:srgbClr val="A8D8A8"/>
                </a:solidFill>
                <a:latin typeface="Consolas" pitchFamily="34" charset="0"/>
                <a:ea typeface="Consolas" pitchFamily="34" charset="-122"/>
                <a:cs typeface="Consolas" pitchFamily="34" charset="-120"/>
              </a:rPr>
              <a:t>)
for i in range(5):
</a:t>
            </a:r>
            <a:pPr indent="0" marL="0">
              <a:buNone/>
            </a:pPr>
            <a:r>
              <a:rPr lang="en-US" sz="1000" dirty="0">
                <a:solidFill>
                  <a:srgbClr val="A8D8A8"/>
                </a:solidFill>
                <a:latin typeface="Consolas" pitchFamily="34" charset="0"/>
                <a:ea typeface="Consolas" pitchFamily="34" charset="-122"/>
                <a:cs typeface="Consolas" pitchFamily="34" charset="-120"/>
              </a:rPr>
              <a:t>    print("Raw:", adc.read())
</a:t>
            </a:r>
            <a:pPr indent="0" marL="0">
              <a:buNone/>
            </a:pPr>
            <a:r>
              <a:rPr lang="en-US" sz="1000" dirty="0">
                <a:solidFill>
                  <a:srgbClr val="A8D8A8"/>
                </a:solidFill>
                <a:latin typeface="Consolas" pitchFamily="34" charset="0"/>
                <a:ea typeface="Consolas" pitchFamily="34" charset="-122"/>
                <a:cs typeface="Consolas" pitchFamily="34" charset="-120"/>
              </a:rPr>
              <a:t>    time.sleep(1)
</a:t>
            </a:r>
            <a:pPr indent="0" marL="0">
              <a:buNone/>
            </a:pPr>
            <a:r>
              <a:rPr lang="en-US" sz="1000" dirty="0">
                <a:solidFill>
                  <a:srgbClr val="6A9955"/>
                </a:solidFill>
                <a:latin typeface="Consolas" pitchFamily="34" charset="0"/>
                <a:ea typeface="Consolas" pitchFamily="34" charset="-122"/>
                <a:cs typeface="Consolas" pitchFamily="34" charset="-120"/>
              </a:rPr>
              <a:t># Then dip in water and repeat
</a:t>
            </a:r>
            <a:pPr indent="0" marL="0">
              <a:buNone/>
            </a:pPr>
            <a:r>
              <a:rPr lang="en-US" sz="1000" dirty="0">
                <a:solidFill>
                  <a:srgbClr val="6A9955"/>
                </a:solidFill>
                <a:latin typeface="Consolas" pitchFamily="34" charset="0"/>
                <a:ea typeface="Consolas" pitchFamily="34" charset="-122"/>
                <a:cs typeface="Consolas" pitchFamily="34" charset="-120"/>
              </a:rPr>
              <a:t># Air value = DRY_VAL (~3000-4095)
</a:t>
            </a:r>
            <a:pPr indent="0" marL="0">
              <a:buNone/>
            </a:pPr>
            <a:r>
              <a:rPr lang="en-US" sz="1000" dirty="0">
                <a:solidFill>
                  <a:srgbClr val="6A9955"/>
                </a:solidFill>
                <a:latin typeface="Consolas" pitchFamily="34" charset="0"/>
                <a:ea typeface="Consolas" pitchFamily="34" charset="-122"/>
                <a:cs typeface="Consolas" pitchFamily="34" charset="-120"/>
              </a:rPr>
              <a:t># Water value = WET_VAL (~1000-1800)</a:t>
            </a:r>
            <a:endParaRPr lang="en-US" sz="1000" dirty="0"/>
          </a:p>
        </p:txBody>
      </p:sp>
      <p:sp>
        <p:nvSpPr>
          <p:cNvPr id="26" name="Shape 24"/>
          <p:cNvSpPr/>
          <p:nvPr/>
        </p:nvSpPr>
        <p:spPr>
          <a:xfrm>
            <a:off x="4480560" y="3703320"/>
            <a:ext cx="4389120" cy="411480"/>
          </a:xfrm>
          <a:prstGeom prst="rect">
            <a:avLst/>
          </a:prstGeom>
          <a:solidFill>
            <a:srgbClr val="E8F5E9"/>
          </a:solidFill>
          <a:ln w="12700">
            <a:solidFill>
              <a:srgbClr val="4A7C59"/>
            </a:solidFill>
            <a:prstDash val="solid"/>
          </a:ln>
        </p:spPr>
      </p:sp>
      <p:sp>
        <p:nvSpPr>
          <p:cNvPr id="27" name="Text 25"/>
          <p:cNvSpPr/>
          <p:nvPr/>
        </p:nvSpPr>
        <p:spPr>
          <a:xfrm>
            <a:off x="4663440" y="3703320"/>
            <a:ext cx="4023360" cy="411480"/>
          </a:xfrm>
          <a:prstGeom prst="rect">
            <a:avLst/>
          </a:prstGeom>
          <a:noFill/>
          <a:ln/>
        </p:spPr>
        <p:txBody>
          <a:bodyPr wrap="square" lIns="0" tIns="0" rIns="0" bIns="0" rtlCol="0" anchor="ctr"/>
          <a:lstStyle/>
          <a:p>
            <a:pPr indent="0" marL="0">
              <a:buNone/>
            </a:pPr>
            <a:r>
              <a:rPr lang="en-US" sz="1050" dirty="0">
                <a:solidFill>
                  <a:srgbClr val="2C5F2D"/>
                </a:solidFill>
                <a:latin typeface="Calibri" pitchFamily="34" charset="0"/>
                <a:ea typeface="Calibri" pitchFamily="34" charset="-122"/>
                <a:cs typeface="Calibri" pitchFamily="34" charset="-120"/>
              </a:rPr>
              <a:t>✓  Confirm values change clearly between air and water</a:t>
            </a:r>
            <a:endParaRPr lang="en-US" sz="1050" dirty="0"/>
          </a:p>
        </p:txBody>
      </p:sp>
      <p:sp>
        <p:nvSpPr>
          <p:cNvPr id="28" name="Text 26"/>
          <p:cNvSpPr/>
          <p:nvPr/>
        </p:nvSpPr>
        <p:spPr>
          <a:xfrm>
            <a:off x="365760" y="3794760"/>
            <a:ext cx="4114800" cy="320040"/>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Record your values:</a:t>
            </a:r>
            <a:endParaRPr lang="en-US" sz="1200" dirty="0"/>
          </a:p>
        </p:txBody>
      </p:sp>
      <p:sp>
        <p:nvSpPr>
          <p:cNvPr id="29" name="Shape 27"/>
          <p:cNvSpPr/>
          <p:nvPr/>
        </p:nvSpPr>
        <p:spPr>
          <a:xfrm>
            <a:off x="274320" y="4160520"/>
            <a:ext cx="4114800" cy="384048"/>
          </a:xfrm>
          <a:prstGeom prst="rect">
            <a:avLst/>
          </a:prstGeom>
          <a:solidFill>
            <a:srgbClr val="FFFFFF"/>
          </a:solidFill>
          <a:ln w="19050">
            <a:solidFill>
              <a:srgbClr val="4A7C59"/>
            </a:solidFill>
            <a:prstDash val="solid"/>
          </a:ln>
        </p:spPr>
      </p:sp>
      <p:sp>
        <p:nvSpPr>
          <p:cNvPr id="30" name="Text 28"/>
          <p:cNvSpPr/>
          <p:nvPr/>
        </p:nvSpPr>
        <p:spPr>
          <a:xfrm>
            <a:off x="411480" y="4160520"/>
            <a:ext cx="1645920" cy="384048"/>
          </a:xfrm>
          <a:prstGeom prst="rect">
            <a:avLst/>
          </a:prstGeom>
          <a:noFill/>
          <a:ln/>
        </p:spPr>
        <p:txBody>
          <a:bodyPr wrap="square" lIns="0" tIns="0" rIns="0" bIns="0" rtlCol="0" anchor="ctr"/>
          <a:lstStyle/>
          <a:p>
            <a:pPr indent="0" marL="0">
              <a:buNone/>
            </a:pPr>
            <a:r>
              <a:rPr lang="en-US" sz="1200" b="1" dirty="0">
                <a:solidFill>
                  <a:srgbClr val="1B2D1E"/>
                </a:solidFill>
                <a:latin typeface="Consolas" pitchFamily="34" charset="0"/>
                <a:ea typeface="Consolas" pitchFamily="34" charset="-122"/>
                <a:cs typeface="Consolas" pitchFamily="34" charset="-120"/>
              </a:rPr>
              <a:t>DRY_VAL  =</a:t>
            </a:r>
            <a:endParaRPr lang="en-US" sz="1200" dirty="0"/>
          </a:p>
        </p:txBody>
      </p:sp>
      <p:sp>
        <p:nvSpPr>
          <p:cNvPr id="31" name="Text 29"/>
          <p:cNvSpPr/>
          <p:nvPr/>
        </p:nvSpPr>
        <p:spPr>
          <a:xfrm>
            <a:off x="2103120" y="4160520"/>
            <a:ext cx="2103120" cy="384048"/>
          </a:xfrm>
          <a:prstGeom prst="rect">
            <a:avLst/>
          </a:prstGeom>
          <a:noFill/>
          <a:ln/>
        </p:spPr>
        <p:txBody>
          <a:bodyPr wrap="square" lIns="0" tIns="0" rIns="0" bIns="0" rtlCol="0" anchor="ctr"/>
          <a:lstStyle/>
          <a:p>
            <a:pPr indent="0" marL="0">
              <a:buNone/>
            </a:pPr>
            <a:r>
              <a:rPr lang="en-US" sz="1100" dirty="0">
                <a:solidFill>
                  <a:srgbClr val="6B8F71"/>
                </a:solidFill>
                <a:latin typeface="Calibri" pitchFamily="34" charset="0"/>
                <a:ea typeface="Calibri" pitchFamily="34" charset="-122"/>
                <a:cs typeface="Calibri" pitchFamily="34" charset="-120"/>
              </a:rPr>
              <a:t>______    (sensor in open air)</a:t>
            </a:r>
            <a:endParaRPr lang="en-US" sz="1100" dirty="0"/>
          </a:p>
        </p:txBody>
      </p:sp>
      <p:sp>
        <p:nvSpPr>
          <p:cNvPr id="32" name="Shape 30"/>
          <p:cNvSpPr/>
          <p:nvPr/>
        </p:nvSpPr>
        <p:spPr>
          <a:xfrm>
            <a:off x="274320" y="4617720"/>
            <a:ext cx="4114800" cy="384048"/>
          </a:xfrm>
          <a:prstGeom prst="rect">
            <a:avLst/>
          </a:prstGeom>
          <a:solidFill>
            <a:srgbClr val="FFFFFF"/>
          </a:solidFill>
          <a:ln w="19050">
            <a:solidFill>
              <a:srgbClr val="4A7C59"/>
            </a:solidFill>
            <a:prstDash val="solid"/>
          </a:ln>
        </p:spPr>
      </p:sp>
      <p:sp>
        <p:nvSpPr>
          <p:cNvPr id="33" name="Text 31"/>
          <p:cNvSpPr/>
          <p:nvPr/>
        </p:nvSpPr>
        <p:spPr>
          <a:xfrm>
            <a:off x="411480" y="4617720"/>
            <a:ext cx="1645920" cy="384048"/>
          </a:xfrm>
          <a:prstGeom prst="rect">
            <a:avLst/>
          </a:prstGeom>
          <a:noFill/>
          <a:ln/>
        </p:spPr>
        <p:txBody>
          <a:bodyPr wrap="square" lIns="0" tIns="0" rIns="0" bIns="0" rtlCol="0" anchor="ctr"/>
          <a:lstStyle/>
          <a:p>
            <a:pPr indent="0" marL="0">
              <a:buNone/>
            </a:pPr>
            <a:r>
              <a:rPr lang="en-US" sz="1200" b="1" dirty="0">
                <a:solidFill>
                  <a:srgbClr val="1B2D1E"/>
                </a:solidFill>
                <a:latin typeface="Consolas" pitchFamily="34" charset="0"/>
                <a:ea typeface="Consolas" pitchFamily="34" charset="-122"/>
                <a:cs typeface="Consolas" pitchFamily="34" charset="-120"/>
              </a:rPr>
              <a:t>WET_VAL  =</a:t>
            </a:r>
            <a:endParaRPr lang="en-US" sz="1200" dirty="0"/>
          </a:p>
        </p:txBody>
      </p:sp>
      <p:sp>
        <p:nvSpPr>
          <p:cNvPr id="34" name="Text 32"/>
          <p:cNvSpPr/>
          <p:nvPr/>
        </p:nvSpPr>
        <p:spPr>
          <a:xfrm>
            <a:off x="2103120" y="4617720"/>
            <a:ext cx="2103120" cy="384048"/>
          </a:xfrm>
          <a:prstGeom prst="rect">
            <a:avLst/>
          </a:prstGeom>
          <a:noFill/>
          <a:ln/>
        </p:spPr>
        <p:txBody>
          <a:bodyPr wrap="square" lIns="0" tIns="0" rIns="0" bIns="0" rtlCol="0" anchor="ctr"/>
          <a:lstStyle/>
          <a:p>
            <a:pPr indent="0" marL="0">
              <a:buNone/>
            </a:pPr>
            <a:r>
              <a:rPr lang="en-US" sz="1100" dirty="0">
                <a:solidFill>
                  <a:srgbClr val="6B8F71"/>
                </a:solidFill>
                <a:latin typeface="Calibri" pitchFamily="34" charset="0"/>
                <a:ea typeface="Calibri" pitchFamily="34" charset="-122"/>
                <a:cs typeface="Calibri" pitchFamily="34" charset="-120"/>
              </a:rPr>
              <a:t>______    (sensor in water)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2D"/>
          </a:solidFill>
          <a:ln w="12700">
            <a:solidFill>
              <a:srgbClr val="1B3A2D"/>
            </a:solidFill>
            <a:prstDash val="solid"/>
          </a:ln>
        </p:spPr>
      </p:sp>
      <p:sp>
        <p:nvSpPr>
          <p:cNvPr id="3" name="Shape 1"/>
          <p:cNvSpPr/>
          <p:nvPr/>
        </p:nvSpPr>
        <p:spPr>
          <a:xfrm>
            <a:off x="457200" y="1645920"/>
            <a:ext cx="73152" cy="1828800"/>
          </a:xfrm>
          <a:prstGeom prst="rect">
            <a:avLst/>
          </a:prstGeom>
          <a:solidFill>
            <a:srgbClr val="97BC62"/>
          </a:solidFill>
          <a:ln w="12700">
            <a:solidFill>
              <a:srgbClr val="97BC62"/>
            </a:solidFill>
            <a:prstDash val="solid"/>
          </a:ln>
        </p:spPr>
      </p:sp>
      <p:sp>
        <p:nvSpPr>
          <p:cNvPr id="4" name="Text 2"/>
          <p:cNvSpPr/>
          <p:nvPr/>
        </p:nvSpPr>
        <p:spPr>
          <a:xfrm>
            <a:off x="731520" y="1645920"/>
            <a:ext cx="7315200" cy="457200"/>
          </a:xfrm>
          <a:prstGeom prst="rect">
            <a:avLst/>
          </a:prstGeom>
          <a:noFill/>
          <a:ln/>
        </p:spPr>
        <p:txBody>
          <a:bodyPr wrap="square"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MODULE 5</a:t>
            </a:r>
            <a:endParaRPr lang="en-US" sz="1300" dirty="0"/>
          </a:p>
        </p:txBody>
      </p:sp>
      <p:sp>
        <p:nvSpPr>
          <p:cNvPr id="5" name="Text 3"/>
          <p:cNvSpPr/>
          <p:nvPr/>
        </p:nvSpPr>
        <p:spPr>
          <a:xfrm>
            <a:off x="731520" y="2103120"/>
            <a:ext cx="7772400" cy="9144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Full Integration</a:t>
            </a:r>
            <a:endParaRPr lang="en-US" sz="3600" dirty="0"/>
          </a:p>
        </p:txBody>
      </p:sp>
      <p:sp>
        <p:nvSpPr>
          <p:cNvPr id="6" name="Text 4"/>
          <p:cNvSpPr/>
          <p:nvPr/>
        </p:nvSpPr>
        <p:spPr>
          <a:xfrm>
            <a:off x="731520" y="3017520"/>
            <a:ext cx="6858000" cy="640080"/>
          </a:xfrm>
          <a:prstGeom prst="rect">
            <a:avLst/>
          </a:prstGeom>
          <a:noFill/>
          <a:ln/>
        </p:spPr>
        <p:txBody>
          <a:bodyPr wrap="square" rtlCol="0" anchor="ctr"/>
          <a:lstStyle/>
          <a:p>
            <a:pPr indent="0" marL="0">
              <a:buNone/>
            </a:pPr>
            <a:r>
              <a:rPr lang="en-US" sz="1600" i="1" dirty="0">
                <a:solidFill>
                  <a:srgbClr val="6B8F71"/>
                </a:solidFill>
                <a:latin typeface="Calibri" pitchFamily="34" charset="0"/>
                <a:ea typeface="Calibri" pitchFamily="34" charset="-122"/>
                <a:cs typeface="Calibri" pitchFamily="34" charset="-120"/>
              </a:rPr>
              <a:t>All Components Together — Live Greenhouse Monitor</a:t>
            </a:r>
            <a:endParaRPr lang="en-US" sz="1600" dirty="0"/>
          </a:p>
        </p:txBody>
      </p:sp>
      <p:sp>
        <p:nvSpPr>
          <p:cNvPr id="7" name="Text 5"/>
          <p:cNvSpPr/>
          <p:nvPr/>
        </p:nvSpPr>
        <p:spPr>
          <a:xfrm>
            <a:off x="7772400" y="4480560"/>
            <a:ext cx="1097280" cy="365760"/>
          </a:xfrm>
          <a:prstGeom prst="rect">
            <a:avLst/>
          </a:prstGeom>
          <a:noFill/>
          <a:ln/>
        </p:spPr>
        <p:txBody>
          <a:bodyPr wrap="square" rtlCol="0" anchor="ctr"/>
          <a:lstStyle/>
          <a:p>
            <a:pPr algn="r" indent="0" marL="0">
              <a:buNone/>
            </a:pPr>
            <a:r>
              <a:rPr lang="en-US" sz="1100" dirty="0">
                <a:solidFill>
                  <a:srgbClr val="6B8F71"/>
                </a:solidFill>
              </a:rPr>
              <a:t>5 / 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Module 5 — main.py (Full Code)</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Integration</a:t>
            </a:r>
            <a:endParaRPr lang="en-US" sz="1100" dirty="0"/>
          </a:p>
        </p:txBody>
      </p:sp>
      <p:sp>
        <p:nvSpPr>
          <p:cNvPr id="5" name="Text 3"/>
          <p:cNvSpPr/>
          <p:nvPr/>
        </p:nvSpPr>
        <p:spPr>
          <a:xfrm>
            <a:off x="365760" y="640080"/>
            <a:ext cx="8412480" cy="320040"/>
          </a:xfrm>
          <a:prstGeom prst="rect">
            <a:avLst/>
          </a:prstGeom>
          <a:noFill/>
          <a:ln/>
        </p:spPr>
        <p:txBody>
          <a:bodyPr wrap="square" rtlCol="0" anchor="ctr"/>
          <a:lstStyle/>
          <a:p>
            <a:pPr indent="0" marL="0">
              <a:buNone/>
            </a:pPr>
            <a:r>
              <a:rPr lang="en-US" sz="1200" i="1" dirty="0">
                <a:solidFill>
                  <a:srgbClr val="1B2D1E"/>
                </a:solidFill>
                <a:latin typeface="Calibri" pitchFamily="34" charset="0"/>
                <a:ea typeface="Calibri" pitchFamily="34" charset="-122"/>
                <a:cs typeface="Calibri" pitchFamily="34" charset="-120"/>
              </a:rPr>
              <a:t>Objective: Combine all tested components into one running program.</a:t>
            </a:r>
            <a:endParaRPr lang="en-US" sz="1200" dirty="0"/>
          </a:p>
        </p:txBody>
      </p:sp>
      <p:sp>
        <p:nvSpPr>
          <p:cNvPr id="6" name="Text 4"/>
          <p:cNvSpPr/>
          <p:nvPr/>
        </p:nvSpPr>
        <p:spPr>
          <a:xfrm>
            <a:off x="365760" y="1005840"/>
            <a:ext cx="82296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Files Required on ESP32</a:t>
            </a:r>
            <a:endParaRPr lang="en-US" sz="1300" dirty="0"/>
          </a:p>
        </p:txBody>
      </p:sp>
      <p:sp>
        <p:nvSpPr>
          <p:cNvPr id="7" name="Shape 5"/>
          <p:cNvSpPr/>
          <p:nvPr/>
        </p:nvSpPr>
        <p:spPr>
          <a:xfrm>
            <a:off x="274320" y="1371600"/>
            <a:ext cx="8595360" cy="365760"/>
          </a:xfrm>
          <a:prstGeom prst="rect">
            <a:avLst/>
          </a:prstGeom>
          <a:solidFill>
            <a:srgbClr val="E8F5E9"/>
          </a:solidFill>
          <a:ln w="12700">
            <a:solidFill>
              <a:srgbClr val="D0D0D0"/>
            </a:solidFill>
            <a:prstDash val="solid"/>
          </a:ln>
        </p:spPr>
      </p:sp>
      <p:sp>
        <p:nvSpPr>
          <p:cNvPr id="8" name="Text 6"/>
          <p:cNvSpPr/>
          <p:nvPr/>
        </p:nvSpPr>
        <p:spPr>
          <a:xfrm>
            <a:off x="411480" y="1371600"/>
            <a:ext cx="1828800" cy="365760"/>
          </a:xfrm>
          <a:prstGeom prst="rect">
            <a:avLst/>
          </a:prstGeom>
          <a:noFill/>
          <a:ln/>
        </p:spPr>
        <p:txBody>
          <a:bodyPr wrap="square" lIns="0" tIns="0" rIns="0" bIns="0" rtlCol="0" anchor="ctr"/>
          <a:lstStyle/>
          <a:p>
            <a:pPr indent="0" marL="0">
              <a:buNone/>
            </a:pPr>
            <a:r>
              <a:rPr lang="en-US" sz="1200" b="1" dirty="0">
                <a:solidFill>
                  <a:srgbClr val="2C5F2D"/>
                </a:solidFill>
                <a:latin typeface="Consolas" pitchFamily="34" charset="0"/>
                <a:ea typeface="Consolas" pitchFamily="34" charset="-122"/>
                <a:cs typeface="Consolas" pitchFamily="34" charset="-120"/>
              </a:rPr>
              <a:t>main.py</a:t>
            </a:r>
            <a:endParaRPr lang="en-US" sz="1200" dirty="0"/>
          </a:p>
        </p:txBody>
      </p:sp>
      <p:sp>
        <p:nvSpPr>
          <p:cNvPr id="9" name="Text 7"/>
          <p:cNvSpPr/>
          <p:nvPr/>
        </p:nvSpPr>
        <p:spPr>
          <a:xfrm>
            <a:off x="2286000" y="1371600"/>
            <a:ext cx="6400800" cy="365760"/>
          </a:xfrm>
          <a:prstGeom prst="rect">
            <a:avLst/>
          </a:prstGeom>
          <a:noFill/>
          <a:ln/>
        </p:spPr>
        <p:txBody>
          <a:bodyPr wrap="square" lIns="0" tIns="0" rIns="0" bIns="0" rtlCol="0" anchor="ctr"/>
          <a:lstStyle/>
          <a:p>
            <a:pPr indent="0" marL="0">
              <a:buNone/>
            </a:pPr>
            <a:r>
              <a:rPr lang="en-US" sz="1100" dirty="0">
                <a:solidFill>
                  <a:srgbClr val="1B2D1E"/>
                </a:solidFill>
                <a:latin typeface="Calibri" pitchFamily="34" charset="0"/>
                <a:ea typeface="Calibri" pitchFamily="34" charset="-122"/>
                <a:cs typeface="Calibri" pitchFamily="34" charset="-120"/>
              </a:rPr>
              <a:t>Main program — provided in this module</a:t>
            </a:r>
            <a:endParaRPr lang="en-US" sz="1100" dirty="0"/>
          </a:p>
        </p:txBody>
      </p:sp>
      <p:sp>
        <p:nvSpPr>
          <p:cNvPr id="10" name="Shape 8"/>
          <p:cNvSpPr/>
          <p:nvPr/>
        </p:nvSpPr>
        <p:spPr>
          <a:xfrm>
            <a:off x="274320" y="1783080"/>
            <a:ext cx="8595360" cy="365760"/>
          </a:xfrm>
          <a:prstGeom prst="rect">
            <a:avLst/>
          </a:prstGeom>
          <a:solidFill>
            <a:srgbClr val="F5F5F5"/>
          </a:solidFill>
          <a:ln w="12700">
            <a:solidFill>
              <a:srgbClr val="D0D0D0"/>
            </a:solidFill>
            <a:prstDash val="solid"/>
          </a:ln>
        </p:spPr>
      </p:sp>
      <p:sp>
        <p:nvSpPr>
          <p:cNvPr id="11" name="Text 9"/>
          <p:cNvSpPr/>
          <p:nvPr/>
        </p:nvSpPr>
        <p:spPr>
          <a:xfrm>
            <a:off x="411480" y="1783080"/>
            <a:ext cx="1828800" cy="365760"/>
          </a:xfrm>
          <a:prstGeom prst="rect">
            <a:avLst/>
          </a:prstGeom>
          <a:noFill/>
          <a:ln/>
        </p:spPr>
        <p:txBody>
          <a:bodyPr wrap="square" lIns="0" tIns="0" rIns="0" bIns="0" rtlCol="0" anchor="ctr"/>
          <a:lstStyle/>
          <a:p>
            <a:pPr indent="0" marL="0">
              <a:buNone/>
            </a:pPr>
            <a:r>
              <a:rPr lang="en-US" sz="1200" b="1" dirty="0">
                <a:solidFill>
                  <a:srgbClr val="2C5F2D"/>
                </a:solidFill>
                <a:latin typeface="Consolas" pitchFamily="34" charset="0"/>
                <a:ea typeface="Consolas" pitchFamily="34" charset="-122"/>
                <a:cs typeface="Consolas" pitchFamily="34" charset="-120"/>
              </a:rPr>
              <a:t>ssd1306.py</a:t>
            </a:r>
            <a:endParaRPr lang="en-US" sz="1200" dirty="0"/>
          </a:p>
        </p:txBody>
      </p:sp>
      <p:sp>
        <p:nvSpPr>
          <p:cNvPr id="12" name="Text 10"/>
          <p:cNvSpPr/>
          <p:nvPr/>
        </p:nvSpPr>
        <p:spPr>
          <a:xfrm>
            <a:off x="2286000" y="1783080"/>
            <a:ext cx="6400800" cy="365760"/>
          </a:xfrm>
          <a:prstGeom prst="rect">
            <a:avLst/>
          </a:prstGeom>
          <a:noFill/>
          <a:ln/>
        </p:spPr>
        <p:txBody>
          <a:bodyPr wrap="square" lIns="0" tIns="0" rIns="0" bIns="0" rtlCol="0" anchor="ctr"/>
          <a:lstStyle/>
          <a:p>
            <a:pPr indent="0" marL="0">
              <a:buNone/>
            </a:pPr>
            <a:r>
              <a:rPr lang="en-US" sz="1100" dirty="0">
                <a:solidFill>
                  <a:srgbClr val="1B2D1E"/>
                </a:solidFill>
                <a:latin typeface="Calibri" pitchFamily="34" charset="0"/>
                <a:ea typeface="Calibri" pitchFamily="34" charset="-122"/>
                <a:cs typeface="Calibri" pitchFamily="34" charset="-120"/>
              </a:rPr>
              <a:t>Official MicroPython OLED driver — must be official version</a:t>
            </a:r>
            <a:endParaRPr lang="en-US" sz="1100" dirty="0"/>
          </a:p>
        </p:txBody>
      </p:sp>
      <p:sp>
        <p:nvSpPr>
          <p:cNvPr id="13" name="Text 11"/>
          <p:cNvSpPr/>
          <p:nvPr/>
        </p:nvSpPr>
        <p:spPr>
          <a:xfrm>
            <a:off x="365760" y="2240280"/>
            <a:ext cx="82296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Key Configuration Values to Update</a:t>
            </a:r>
            <a:endParaRPr lang="en-US" sz="1300" dirty="0"/>
          </a:p>
        </p:txBody>
      </p:sp>
      <p:sp>
        <p:nvSpPr>
          <p:cNvPr id="14" name="Shape 12"/>
          <p:cNvSpPr/>
          <p:nvPr/>
        </p:nvSpPr>
        <p:spPr>
          <a:xfrm>
            <a:off x="274320" y="2606040"/>
            <a:ext cx="8595360" cy="1371600"/>
          </a:xfrm>
          <a:prstGeom prst="rect">
            <a:avLst/>
          </a:prstGeom>
          <a:solidFill>
            <a:srgbClr val="0D1117"/>
          </a:solidFill>
          <a:ln w="19050">
            <a:solidFill>
              <a:srgbClr val="4A7C59"/>
            </a:solidFill>
            <a:prstDash val="solid"/>
          </a:ln>
          <a:effectLst>
            <a:outerShdw sx="100000" sy="100000" kx="0" ky="0" algn="bl" rotWithShape="0" blurRad="76200" dist="25400" dir="8100000">
              <a:srgbClr val="000000">
                <a:alpha val="12000"/>
              </a:srgbClr>
            </a:outerShdw>
          </a:effectLst>
        </p:spPr>
      </p:sp>
      <p:sp>
        <p:nvSpPr>
          <p:cNvPr id="15" name="Text 13"/>
          <p:cNvSpPr/>
          <p:nvPr/>
        </p:nvSpPr>
        <p:spPr>
          <a:xfrm>
            <a:off x="411480" y="2697480"/>
            <a:ext cx="8321040" cy="1188720"/>
          </a:xfrm>
          <a:prstGeom prst="rect">
            <a:avLst/>
          </a:prstGeom>
          <a:noFill/>
          <a:ln/>
        </p:spPr>
        <p:txBody>
          <a:bodyPr wrap="square" rtlCol="0" anchor="t"/>
          <a:lstStyle/>
          <a:p>
            <a:pPr indent="0" marL="0">
              <a:buNone/>
            </a:pPr>
            <a:r>
              <a:rPr lang="en-US" sz="1000" dirty="0">
                <a:solidFill>
                  <a:srgbClr val="6A9955"/>
                </a:solidFill>
                <a:latin typeface="Consolas" pitchFamily="34" charset="0"/>
                <a:ea typeface="Consolas" pitchFamily="34" charset="-122"/>
                <a:cs typeface="Consolas" pitchFamily="34" charset="-120"/>
              </a:rPr>
              <a:t># ── Update these three values from your calibration session ──
</a:t>
            </a:r>
            <a:pPr indent="0" marL="0">
              <a:buNone/>
            </a:pPr>
            <a:r>
              <a:rPr lang="en-US" sz="1000" dirty="0">
                <a:solidFill>
                  <a:srgbClr val="A8D8A8"/>
                </a:solidFill>
                <a:latin typeface="Consolas" pitchFamily="34" charset="0"/>
                <a:ea typeface="Consolas" pitchFamily="34" charset="-122"/>
                <a:cs typeface="Consolas" pitchFamily="34" charset="-120"/>
              </a:rPr>
              <a:t>DRY_VAL    = </a:t>
            </a:r>
            <a:pPr indent="0" marL="0">
              <a:buNone/>
            </a:pPr>
            <a:r>
              <a:rPr lang="en-US" sz="1000" dirty="0">
                <a:solidFill>
                  <a:srgbClr val="B5CEA8"/>
                </a:solidFill>
                <a:latin typeface="Consolas" pitchFamily="34" charset="0"/>
                <a:ea typeface="Consolas" pitchFamily="34" charset="-122"/>
                <a:cs typeface="Consolas" pitchFamily="34" charset="-120"/>
              </a:rPr>
              <a:t>4095</a:t>
            </a:r>
            <a:pPr indent="0" marL="0">
              <a:buNone/>
            </a:pPr>
            <a:r>
              <a:rPr lang="en-US" sz="1000" dirty="0">
                <a:solidFill>
                  <a:srgbClr val="6A9955"/>
                </a:solidFill>
                <a:latin typeface="Consolas" pitchFamily="34" charset="0"/>
                <a:ea typeface="Consolas" pitchFamily="34" charset="-122"/>
                <a:cs typeface="Consolas" pitchFamily="34" charset="-120"/>
              </a:rPr>
              <a:t>    # Your air reading from Module 4
</a:t>
            </a:r>
            <a:pPr indent="0" marL="0">
              <a:buNone/>
            </a:pPr>
            <a:r>
              <a:rPr lang="en-US" sz="1000" dirty="0">
                <a:solidFill>
                  <a:srgbClr val="A8D8A8"/>
                </a:solidFill>
                <a:latin typeface="Consolas" pitchFamily="34" charset="0"/>
                <a:ea typeface="Consolas" pitchFamily="34" charset="-122"/>
                <a:cs typeface="Consolas" pitchFamily="34" charset="-120"/>
              </a:rPr>
              <a:t>WET_VAL    = </a:t>
            </a:r>
            <a:pPr indent="0" marL="0">
              <a:buNone/>
            </a:pPr>
            <a:r>
              <a:rPr lang="en-US" sz="1000" dirty="0">
                <a:solidFill>
                  <a:srgbClr val="B5CEA8"/>
                </a:solidFill>
                <a:latin typeface="Consolas" pitchFamily="34" charset="0"/>
                <a:ea typeface="Consolas" pitchFamily="34" charset="-122"/>
                <a:cs typeface="Consolas" pitchFamily="34" charset="-120"/>
              </a:rPr>
              <a:t>1321</a:t>
            </a:r>
            <a:pPr indent="0" marL="0">
              <a:buNone/>
            </a:pPr>
            <a:r>
              <a:rPr lang="en-US" sz="1000" dirty="0">
                <a:solidFill>
                  <a:srgbClr val="6A9955"/>
                </a:solidFill>
                <a:latin typeface="Consolas" pitchFamily="34" charset="0"/>
                <a:ea typeface="Consolas" pitchFamily="34" charset="-122"/>
                <a:cs typeface="Consolas" pitchFamily="34" charset="-120"/>
              </a:rPr>
              <a:t>    # Your water reading from Module 4
</a:t>
            </a:r>
            <a:pPr indent="0" marL="0">
              <a:buNone/>
            </a:pPr>
            <a:r>
              <a:rPr lang="en-US" sz="1000" dirty="0">
                <a:solidFill>
                  <a:srgbClr val="A8D8A8"/>
                </a:solidFill>
                <a:latin typeface="Consolas" pitchFamily="34" charset="0"/>
                <a:ea typeface="Consolas" pitchFamily="34" charset="-122"/>
                <a:cs typeface="Consolas" pitchFamily="34" charset="-120"/>
              </a:rPr>
              <a:t>ENABLE_WIFI = </a:t>
            </a:r>
            <a:pPr indent="0" marL="0">
              <a:buNone/>
            </a:pPr>
            <a:r>
              <a:rPr lang="en-US" sz="1000" dirty="0">
                <a:solidFill>
                  <a:srgbClr val="569CD6"/>
                </a:solidFill>
                <a:latin typeface="Consolas" pitchFamily="34" charset="0"/>
                <a:ea typeface="Consolas" pitchFamily="34" charset="-122"/>
                <a:cs typeface="Consolas" pitchFamily="34" charset="-120"/>
              </a:rPr>
              <a:t>False</a:t>
            </a:r>
            <a:pPr indent="0" marL="0">
              <a:buNone/>
            </a:pPr>
            <a:r>
              <a:rPr lang="en-US" sz="1000" dirty="0">
                <a:solidFill>
                  <a:srgbClr val="6A9955"/>
                </a:solidFill>
                <a:latin typeface="Consolas" pitchFamily="34" charset="0"/>
                <a:ea typeface="Consolas" pitchFamily="34" charset="-122"/>
                <a:cs typeface="Consolas" pitchFamily="34" charset="-120"/>
              </a:rPr>
              <a:t>   # Set True to enable Google Sheets logging</a:t>
            </a:r>
            <a:endParaRPr lang="en-US" sz="1000" dirty="0"/>
          </a:p>
        </p:txBody>
      </p:sp>
      <p:sp>
        <p:nvSpPr>
          <p:cNvPr id="16" name="Text 14"/>
          <p:cNvSpPr/>
          <p:nvPr/>
        </p:nvSpPr>
        <p:spPr>
          <a:xfrm>
            <a:off x="365760" y="4041648"/>
            <a:ext cx="82296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What You Should See</a:t>
            </a:r>
            <a:endParaRPr lang="en-US" sz="1300" dirty="0"/>
          </a:p>
        </p:txBody>
      </p:sp>
      <p:sp>
        <p:nvSpPr>
          <p:cNvPr id="17" name="Shape 15"/>
          <p:cNvSpPr/>
          <p:nvPr/>
        </p:nvSpPr>
        <p:spPr>
          <a:xfrm>
            <a:off x="274320" y="4407408"/>
            <a:ext cx="384048" cy="384048"/>
          </a:xfrm>
          <a:prstGeom prst="ellipse">
            <a:avLst/>
          </a:prstGeom>
          <a:solidFill>
            <a:srgbClr val="4A7C59"/>
          </a:solidFill>
          <a:ln w="12700">
            <a:solidFill>
              <a:srgbClr val="4A7C59"/>
            </a:solidFill>
            <a:prstDash val="solid"/>
          </a:ln>
        </p:spPr>
      </p:sp>
      <p:sp>
        <p:nvSpPr>
          <p:cNvPr id="18" name="Text 16"/>
          <p:cNvSpPr/>
          <p:nvPr/>
        </p:nvSpPr>
        <p:spPr>
          <a:xfrm>
            <a:off x="274320"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9" name="Text 17"/>
          <p:cNvSpPr/>
          <p:nvPr/>
        </p:nvSpPr>
        <p:spPr>
          <a:xfrm>
            <a:off x="777240" y="4425696"/>
            <a:ext cx="7772400" cy="347472"/>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Splash screen on both OLEDs showing 'MicroLab Greenhouse v2' + WiFi status</a:t>
            </a:r>
            <a:endParaRPr lang="en-US" sz="1200" dirty="0"/>
          </a:p>
        </p:txBody>
      </p:sp>
      <p:sp>
        <p:nvSpPr>
          <p:cNvPr id="20" name="Shape 18"/>
          <p:cNvSpPr/>
          <p:nvPr/>
        </p:nvSpPr>
        <p:spPr>
          <a:xfrm>
            <a:off x="274320" y="4736592"/>
            <a:ext cx="384048" cy="384048"/>
          </a:xfrm>
          <a:prstGeom prst="ellipse">
            <a:avLst/>
          </a:prstGeom>
          <a:solidFill>
            <a:srgbClr val="4A7C59"/>
          </a:solidFill>
          <a:ln w="12700">
            <a:solidFill>
              <a:srgbClr val="4A7C59"/>
            </a:solidFill>
            <a:prstDash val="solid"/>
          </a:ln>
        </p:spPr>
      </p:sp>
      <p:sp>
        <p:nvSpPr>
          <p:cNvPr id="21" name="Text 19"/>
          <p:cNvSpPr/>
          <p:nvPr/>
        </p:nvSpPr>
        <p:spPr>
          <a:xfrm>
            <a:off x="274320" y="47365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Text 20"/>
          <p:cNvSpPr/>
          <p:nvPr/>
        </p:nvSpPr>
        <p:spPr>
          <a:xfrm>
            <a:off x="777240" y="4754880"/>
            <a:ext cx="7772400" cy="347472"/>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OLED #1: Live temperature (°C) and humidity (%) updating every 10 seconds</a:t>
            </a:r>
            <a:endParaRPr lang="en-US" sz="1200" dirty="0"/>
          </a:p>
        </p:txBody>
      </p:sp>
      <p:sp>
        <p:nvSpPr>
          <p:cNvPr id="23" name="Shape 21"/>
          <p:cNvSpPr/>
          <p:nvPr/>
        </p:nvSpPr>
        <p:spPr>
          <a:xfrm>
            <a:off x="274320" y="5065776"/>
            <a:ext cx="384048" cy="384048"/>
          </a:xfrm>
          <a:prstGeom prst="ellipse">
            <a:avLst/>
          </a:prstGeom>
          <a:solidFill>
            <a:srgbClr val="4A7C59"/>
          </a:solidFill>
          <a:ln w="12700">
            <a:solidFill>
              <a:srgbClr val="4A7C59"/>
            </a:solidFill>
            <a:prstDash val="solid"/>
          </a:ln>
        </p:spPr>
      </p:sp>
      <p:sp>
        <p:nvSpPr>
          <p:cNvPr id="24" name="Text 22"/>
          <p:cNvSpPr/>
          <p:nvPr/>
        </p:nvSpPr>
        <p:spPr>
          <a:xfrm>
            <a:off x="274320" y="5065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777240" y="5084064"/>
            <a:ext cx="7772400" cy="347472"/>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OLED #2: Live moisture percentage and DRY / OK / WET status label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3A2D"/>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2D"/>
          </a:solidFill>
          <a:ln w="12700">
            <a:solidFill>
              <a:srgbClr val="1B3A2D"/>
            </a:solidFill>
            <a:prstDash val="solid"/>
          </a:ln>
        </p:spPr>
      </p:sp>
      <p:sp>
        <p:nvSpPr>
          <p:cNvPr id="3" name="Shape 1"/>
          <p:cNvSpPr/>
          <p:nvPr/>
        </p:nvSpPr>
        <p:spPr>
          <a:xfrm>
            <a:off x="457200" y="1645920"/>
            <a:ext cx="73152" cy="1828800"/>
          </a:xfrm>
          <a:prstGeom prst="rect">
            <a:avLst/>
          </a:prstGeom>
          <a:solidFill>
            <a:srgbClr val="97BC62"/>
          </a:solidFill>
          <a:ln w="12700">
            <a:solidFill>
              <a:srgbClr val="97BC62"/>
            </a:solidFill>
            <a:prstDash val="solid"/>
          </a:ln>
        </p:spPr>
      </p:sp>
      <p:sp>
        <p:nvSpPr>
          <p:cNvPr id="4" name="Text 2"/>
          <p:cNvSpPr/>
          <p:nvPr/>
        </p:nvSpPr>
        <p:spPr>
          <a:xfrm>
            <a:off x="731520" y="1645920"/>
            <a:ext cx="7315200" cy="457200"/>
          </a:xfrm>
          <a:prstGeom prst="rect">
            <a:avLst/>
          </a:prstGeom>
          <a:noFill/>
          <a:ln/>
        </p:spPr>
        <p:txBody>
          <a:bodyPr wrap="square" rtlCol="0" anchor="ctr"/>
          <a:lstStyle/>
          <a:p>
            <a:pPr indent="0" marL="0">
              <a:buNone/>
            </a:pPr>
            <a:r>
              <a:rPr lang="en-US" sz="1300" b="1" spc="600" kern="0" dirty="0">
                <a:solidFill>
                  <a:srgbClr val="97BC62"/>
                </a:solidFill>
                <a:latin typeface="Calibri" pitchFamily="34" charset="0"/>
                <a:ea typeface="Calibri" pitchFamily="34" charset="-122"/>
                <a:cs typeface="Calibri" pitchFamily="34" charset="-120"/>
              </a:rPr>
              <a:t>MODULE 6</a:t>
            </a:r>
            <a:endParaRPr lang="en-US" sz="1300" dirty="0"/>
          </a:p>
        </p:txBody>
      </p:sp>
      <p:sp>
        <p:nvSpPr>
          <p:cNvPr id="5" name="Text 3"/>
          <p:cNvSpPr/>
          <p:nvPr/>
        </p:nvSpPr>
        <p:spPr>
          <a:xfrm>
            <a:off x="731520" y="2103120"/>
            <a:ext cx="7772400" cy="9144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Google Sheets Dashboard</a:t>
            </a:r>
            <a:endParaRPr lang="en-US" sz="3600" dirty="0"/>
          </a:p>
        </p:txBody>
      </p:sp>
      <p:sp>
        <p:nvSpPr>
          <p:cNvPr id="6" name="Text 4"/>
          <p:cNvSpPr/>
          <p:nvPr/>
        </p:nvSpPr>
        <p:spPr>
          <a:xfrm>
            <a:off x="731520" y="3017520"/>
            <a:ext cx="6858000" cy="640080"/>
          </a:xfrm>
          <a:prstGeom prst="rect">
            <a:avLst/>
          </a:prstGeom>
          <a:noFill/>
          <a:ln/>
        </p:spPr>
        <p:txBody>
          <a:bodyPr wrap="square" rtlCol="0" anchor="ctr"/>
          <a:lstStyle/>
          <a:p>
            <a:pPr indent="0" marL="0">
              <a:buNone/>
            </a:pPr>
            <a:r>
              <a:rPr lang="en-US" sz="1600" i="1" dirty="0">
                <a:solidFill>
                  <a:srgbClr val="6B8F71"/>
                </a:solidFill>
                <a:latin typeface="Calibri" pitchFamily="34" charset="0"/>
                <a:ea typeface="Calibri" pitchFamily="34" charset="-122"/>
                <a:cs typeface="Calibri" pitchFamily="34" charset="-120"/>
              </a:rPr>
              <a:t>Data Collection &amp; Analysis — Tier 1 AI Integration</a:t>
            </a:r>
            <a:endParaRPr lang="en-US" sz="1600" dirty="0"/>
          </a:p>
        </p:txBody>
      </p:sp>
      <p:sp>
        <p:nvSpPr>
          <p:cNvPr id="7" name="Text 5"/>
          <p:cNvSpPr/>
          <p:nvPr/>
        </p:nvSpPr>
        <p:spPr>
          <a:xfrm>
            <a:off x="7772400" y="4480560"/>
            <a:ext cx="1097280" cy="365760"/>
          </a:xfrm>
          <a:prstGeom prst="rect">
            <a:avLst/>
          </a:prstGeom>
          <a:noFill/>
          <a:ln/>
        </p:spPr>
        <p:txBody>
          <a:bodyPr wrap="square" rtlCol="0" anchor="ctr"/>
          <a:lstStyle/>
          <a:p>
            <a:pPr algn="r" indent="0" marL="0">
              <a:buNone/>
            </a:pPr>
            <a:r>
              <a:rPr lang="en-US" sz="1100" dirty="0">
                <a:solidFill>
                  <a:srgbClr val="6B8F71"/>
                </a:solidFill>
              </a:rPr>
              <a:t>6 / 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Module 6 — Google Sheets Setup</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Data Collection</a:t>
            </a:r>
            <a:endParaRPr lang="en-US" sz="1100" dirty="0"/>
          </a:p>
        </p:txBody>
      </p:sp>
      <p:sp>
        <p:nvSpPr>
          <p:cNvPr id="5" name="Text 3"/>
          <p:cNvSpPr/>
          <p:nvPr/>
        </p:nvSpPr>
        <p:spPr>
          <a:xfrm>
            <a:off x="365760" y="640080"/>
            <a:ext cx="8412480" cy="365760"/>
          </a:xfrm>
          <a:prstGeom prst="rect">
            <a:avLst/>
          </a:prstGeom>
          <a:noFill/>
          <a:ln/>
        </p:spPr>
        <p:txBody>
          <a:bodyPr wrap="square" rtlCol="0" anchor="ctr"/>
          <a:lstStyle/>
          <a:p>
            <a:pPr indent="0" marL="0">
              <a:buNone/>
            </a:pPr>
            <a:r>
              <a:rPr lang="en-US" sz="1200" i="1" dirty="0">
                <a:solidFill>
                  <a:srgbClr val="1B2D1E"/>
                </a:solidFill>
                <a:latin typeface="Calibri" pitchFamily="34" charset="0"/>
                <a:ea typeface="Calibri" pitchFamily="34" charset="-122"/>
                <a:cs typeface="Calibri" pitchFamily="34" charset="-120"/>
              </a:rPr>
              <a:t>Objective: Enable WiFi logging so sensor data builds a live dataset in Google Sheets.</a:t>
            </a:r>
            <a:endParaRPr lang="en-US" sz="1200" dirty="0"/>
          </a:p>
        </p:txBody>
      </p:sp>
      <p:sp>
        <p:nvSpPr>
          <p:cNvPr id="6" name="Text 4"/>
          <p:cNvSpPr/>
          <p:nvPr/>
        </p:nvSpPr>
        <p:spPr>
          <a:xfrm>
            <a:off x="365760" y="1051560"/>
            <a:ext cx="41148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Setup Steps</a:t>
            </a:r>
            <a:endParaRPr lang="en-US" sz="1300" dirty="0"/>
          </a:p>
        </p:txBody>
      </p:sp>
      <p:sp>
        <p:nvSpPr>
          <p:cNvPr id="7" name="Shape 5"/>
          <p:cNvSpPr/>
          <p:nvPr/>
        </p:nvSpPr>
        <p:spPr>
          <a:xfrm>
            <a:off x="274320" y="1417320"/>
            <a:ext cx="384048" cy="384048"/>
          </a:xfrm>
          <a:prstGeom prst="ellipse">
            <a:avLst/>
          </a:prstGeom>
          <a:solidFill>
            <a:srgbClr val="4A7C59"/>
          </a:solidFill>
          <a:ln w="12700">
            <a:solidFill>
              <a:srgbClr val="4A7C59"/>
            </a:solidFill>
            <a:prstDash val="solid"/>
          </a:ln>
        </p:spPr>
      </p:sp>
      <p:sp>
        <p:nvSpPr>
          <p:cNvPr id="8" name="Text 6"/>
          <p:cNvSpPr/>
          <p:nvPr/>
        </p:nvSpPr>
        <p:spPr>
          <a:xfrm>
            <a:off x="274320"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777240" y="1435608"/>
            <a:ext cx="7772400" cy="347472"/>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Create a new Google Sheet — name it 'Greenhouse Monitor'</a:t>
            </a:r>
            <a:endParaRPr lang="en-US" sz="1200" dirty="0"/>
          </a:p>
        </p:txBody>
      </p:sp>
      <p:sp>
        <p:nvSpPr>
          <p:cNvPr id="10" name="Shape 8"/>
          <p:cNvSpPr/>
          <p:nvPr/>
        </p:nvSpPr>
        <p:spPr>
          <a:xfrm>
            <a:off x="274320" y="1892808"/>
            <a:ext cx="384048" cy="384048"/>
          </a:xfrm>
          <a:prstGeom prst="ellipse">
            <a:avLst/>
          </a:prstGeom>
          <a:solidFill>
            <a:srgbClr val="4A7C59"/>
          </a:solidFill>
          <a:ln w="12700">
            <a:solidFill>
              <a:srgbClr val="4A7C59"/>
            </a:solidFill>
            <a:prstDash val="solid"/>
          </a:ln>
        </p:spPr>
      </p:sp>
      <p:sp>
        <p:nvSpPr>
          <p:cNvPr id="11" name="Text 9"/>
          <p:cNvSpPr/>
          <p:nvPr/>
        </p:nvSpPr>
        <p:spPr>
          <a:xfrm>
            <a:off x="274320" y="1892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77240" y="1911096"/>
            <a:ext cx="7772400" cy="347472"/>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Click Extensions → Apps Script → paste apps_script.js</a:t>
            </a:r>
            <a:endParaRPr lang="en-US" sz="1200" dirty="0"/>
          </a:p>
        </p:txBody>
      </p:sp>
      <p:sp>
        <p:nvSpPr>
          <p:cNvPr id="13" name="Shape 11"/>
          <p:cNvSpPr/>
          <p:nvPr/>
        </p:nvSpPr>
        <p:spPr>
          <a:xfrm>
            <a:off x="274320" y="2368296"/>
            <a:ext cx="384048" cy="384048"/>
          </a:xfrm>
          <a:prstGeom prst="ellipse">
            <a:avLst/>
          </a:prstGeom>
          <a:solidFill>
            <a:srgbClr val="4A7C59"/>
          </a:solidFill>
          <a:ln w="12700">
            <a:solidFill>
              <a:srgbClr val="4A7C59"/>
            </a:solidFill>
            <a:prstDash val="solid"/>
          </a:ln>
        </p:spPr>
      </p:sp>
      <p:sp>
        <p:nvSpPr>
          <p:cNvPr id="14" name="Text 12"/>
          <p:cNvSpPr/>
          <p:nvPr/>
        </p:nvSpPr>
        <p:spPr>
          <a:xfrm>
            <a:off x="274320" y="23682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777240" y="2386584"/>
            <a:ext cx="7772400" cy="347472"/>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Click Deploy → New Deployment → Web App → Anyone → Deploy</a:t>
            </a:r>
            <a:endParaRPr lang="en-US" sz="1200" dirty="0"/>
          </a:p>
        </p:txBody>
      </p:sp>
      <p:sp>
        <p:nvSpPr>
          <p:cNvPr id="16" name="Shape 14"/>
          <p:cNvSpPr/>
          <p:nvPr/>
        </p:nvSpPr>
        <p:spPr>
          <a:xfrm>
            <a:off x="274320" y="2843784"/>
            <a:ext cx="384048" cy="384048"/>
          </a:xfrm>
          <a:prstGeom prst="ellipse">
            <a:avLst/>
          </a:prstGeom>
          <a:solidFill>
            <a:srgbClr val="4A7C59"/>
          </a:solidFill>
          <a:ln w="12700">
            <a:solidFill>
              <a:srgbClr val="4A7C59"/>
            </a:solidFill>
            <a:prstDash val="solid"/>
          </a:ln>
        </p:spPr>
      </p:sp>
      <p:sp>
        <p:nvSpPr>
          <p:cNvPr id="17" name="Text 15"/>
          <p:cNvSpPr/>
          <p:nvPr/>
        </p:nvSpPr>
        <p:spPr>
          <a:xfrm>
            <a:off x="274320" y="2843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777240" y="2862072"/>
            <a:ext cx="7772400" cy="347472"/>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Copy the Web App URL</a:t>
            </a:r>
            <a:endParaRPr lang="en-US" sz="1200" dirty="0"/>
          </a:p>
        </p:txBody>
      </p:sp>
      <p:sp>
        <p:nvSpPr>
          <p:cNvPr id="19" name="Shape 17"/>
          <p:cNvSpPr/>
          <p:nvPr/>
        </p:nvSpPr>
        <p:spPr>
          <a:xfrm>
            <a:off x="274320" y="3319272"/>
            <a:ext cx="384048" cy="384048"/>
          </a:xfrm>
          <a:prstGeom prst="ellipse">
            <a:avLst/>
          </a:prstGeom>
          <a:solidFill>
            <a:srgbClr val="4A7C59"/>
          </a:solidFill>
          <a:ln w="12700">
            <a:solidFill>
              <a:srgbClr val="4A7C59"/>
            </a:solidFill>
            <a:prstDash val="solid"/>
          </a:ln>
        </p:spPr>
      </p:sp>
      <p:sp>
        <p:nvSpPr>
          <p:cNvPr id="20" name="Text 18"/>
          <p:cNvSpPr/>
          <p:nvPr/>
        </p:nvSpPr>
        <p:spPr>
          <a:xfrm>
            <a:off x="274320" y="33192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p:nvPr/>
        </p:nvSpPr>
        <p:spPr>
          <a:xfrm>
            <a:off x="777240" y="3337560"/>
            <a:ext cx="7772400" cy="347472"/>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In main.py: set ENABLE_WIFI=True, add SSID, password, and URL</a:t>
            </a:r>
            <a:endParaRPr lang="en-US" sz="1200" dirty="0"/>
          </a:p>
        </p:txBody>
      </p:sp>
      <p:sp>
        <p:nvSpPr>
          <p:cNvPr id="22" name="Shape 20"/>
          <p:cNvSpPr/>
          <p:nvPr/>
        </p:nvSpPr>
        <p:spPr>
          <a:xfrm>
            <a:off x="274320" y="3794760"/>
            <a:ext cx="384048" cy="384048"/>
          </a:xfrm>
          <a:prstGeom prst="ellipse">
            <a:avLst/>
          </a:prstGeom>
          <a:solidFill>
            <a:srgbClr val="4A7C59"/>
          </a:solidFill>
          <a:ln w="12700">
            <a:solidFill>
              <a:srgbClr val="4A7C59"/>
            </a:solidFill>
            <a:prstDash val="solid"/>
          </a:ln>
        </p:spPr>
      </p:sp>
      <p:sp>
        <p:nvSpPr>
          <p:cNvPr id="23" name="Text 21"/>
          <p:cNvSpPr/>
          <p:nvPr/>
        </p:nvSpPr>
        <p:spPr>
          <a:xfrm>
            <a:off x="274320" y="3794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4" name="Text 22"/>
          <p:cNvSpPr/>
          <p:nvPr/>
        </p:nvSpPr>
        <p:spPr>
          <a:xfrm>
            <a:off x="777240" y="3813048"/>
            <a:ext cx="7772400" cy="347472"/>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Upload main.py and reboot — data appears in Sheets every 5 min</a:t>
            </a:r>
            <a:endParaRPr lang="en-US" sz="1200" dirty="0"/>
          </a:p>
        </p:txBody>
      </p:sp>
      <p:sp>
        <p:nvSpPr>
          <p:cNvPr id="25" name="Text 23"/>
          <p:cNvSpPr/>
          <p:nvPr/>
        </p:nvSpPr>
        <p:spPr>
          <a:xfrm>
            <a:off x="4663440" y="1051560"/>
            <a:ext cx="411480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What the Sheet Captures</a:t>
            </a:r>
            <a:endParaRPr lang="en-US" sz="1300" dirty="0"/>
          </a:p>
        </p:txBody>
      </p:sp>
      <p:sp>
        <p:nvSpPr>
          <p:cNvPr id="26" name="Shape 24"/>
          <p:cNvSpPr/>
          <p:nvPr/>
        </p:nvSpPr>
        <p:spPr>
          <a:xfrm>
            <a:off x="4572000" y="1417320"/>
            <a:ext cx="4297680" cy="393192"/>
          </a:xfrm>
          <a:prstGeom prst="rect">
            <a:avLst/>
          </a:prstGeom>
          <a:solidFill>
            <a:srgbClr val="FFFFFF"/>
          </a:solidFill>
          <a:ln w="12700">
            <a:solidFill>
              <a:srgbClr val="E0E0E0"/>
            </a:solidFill>
            <a:prstDash val="solid"/>
          </a:ln>
        </p:spPr>
      </p:sp>
      <p:sp>
        <p:nvSpPr>
          <p:cNvPr id="27" name="Shape 25"/>
          <p:cNvSpPr/>
          <p:nvPr/>
        </p:nvSpPr>
        <p:spPr>
          <a:xfrm>
            <a:off x="4572000" y="1417320"/>
            <a:ext cx="54864" cy="393192"/>
          </a:xfrm>
          <a:prstGeom prst="rect">
            <a:avLst/>
          </a:prstGeom>
          <a:solidFill>
            <a:srgbClr val="97BC62"/>
          </a:solidFill>
          <a:ln w="12700">
            <a:solidFill>
              <a:srgbClr val="97BC62"/>
            </a:solidFill>
            <a:prstDash val="solid"/>
          </a:ln>
        </p:spPr>
      </p:sp>
      <p:sp>
        <p:nvSpPr>
          <p:cNvPr id="28" name="Text 26"/>
          <p:cNvSpPr/>
          <p:nvPr/>
        </p:nvSpPr>
        <p:spPr>
          <a:xfrm>
            <a:off x="4709160" y="1417320"/>
            <a:ext cx="2011680" cy="393192"/>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Timestamp</a:t>
            </a:r>
            <a:endParaRPr lang="en-US" sz="1100" dirty="0"/>
          </a:p>
        </p:txBody>
      </p:sp>
      <p:sp>
        <p:nvSpPr>
          <p:cNvPr id="29" name="Text 27"/>
          <p:cNvSpPr/>
          <p:nvPr/>
        </p:nvSpPr>
        <p:spPr>
          <a:xfrm>
            <a:off x="6766560" y="1417320"/>
            <a:ext cx="2011680" cy="39319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Auto-formatted date &amp; time</a:t>
            </a:r>
            <a:endParaRPr lang="en-US" sz="1000" dirty="0"/>
          </a:p>
        </p:txBody>
      </p:sp>
      <p:sp>
        <p:nvSpPr>
          <p:cNvPr id="30" name="Shape 28"/>
          <p:cNvSpPr/>
          <p:nvPr/>
        </p:nvSpPr>
        <p:spPr>
          <a:xfrm>
            <a:off x="4572000" y="1856232"/>
            <a:ext cx="4297680" cy="393192"/>
          </a:xfrm>
          <a:prstGeom prst="rect">
            <a:avLst/>
          </a:prstGeom>
          <a:solidFill>
            <a:srgbClr val="EEF5EE"/>
          </a:solidFill>
          <a:ln w="12700">
            <a:solidFill>
              <a:srgbClr val="E0E0E0"/>
            </a:solidFill>
            <a:prstDash val="solid"/>
          </a:ln>
        </p:spPr>
      </p:sp>
      <p:sp>
        <p:nvSpPr>
          <p:cNvPr id="31" name="Shape 29"/>
          <p:cNvSpPr/>
          <p:nvPr/>
        </p:nvSpPr>
        <p:spPr>
          <a:xfrm>
            <a:off x="4572000" y="1856232"/>
            <a:ext cx="54864" cy="393192"/>
          </a:xfrm>
          <a:prstGeom prst="rect">
            <a:avLst/>
          </a:prstGeom>
          <a:solidFill>
            <a:srgbClr val="97BC62"/>
          </a:solidFill>
          <a:ln w="12700">
            <a:solidFill>
              <a:srgbClr val="97BC62"/>
            </a:solidFill>
            <a:prstDash val="solid"/>
          </a:ln>
        </p:spPr>
      </p:sp>
      <p:sp>
        <p:nvSpPr>
          <p:cNvPr id="32" name="Text 30"/>
          <p:cNvSpPr/>
          <p:nvPr/>
        </p:nvSpPr>
        <p:spPr>
          <a:xfrm>
            <a:off x="4709160" y="1856232"/>
            <a:ext cx="2011680" cy="393192"/>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Temperature (°C)</a:t>
            </a:r>
            <a:endParaRPr lang="en-US" sz="1100" dirty="0"/>
          </a:p>
        </p:txBody>
      </p:sp>
      <p:sp>
        <p:nvSpPr>
          <p:cNvPr id="33" name="Text 31"/>
          <p:cNvSpPr/>
          <p:nvPr/>
        </p:nvSpPr>
        <p:spPr>
          <a:xfrm>
            <a:off x="6766560" y="1856232"/>
            <a:ext cx="2011680" cy="39319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DHT11 reading</a:t>
            </a:r>
            <a:endParaRPr lang="en-US" sz="1000" dirty="0"/>
          </a:p>
        </p:txBody>
      </p:sp>
      <p:sp>
        <p:nvSpPr>
          <p:cNvPr id="34" name="Shape 32"/>
          <p:cNvSpPr/>
          <p:nvPr/>
        </p:nvSpPr>
        <p:spPr>
          <a:xfrm>
            <a:off x="4572000" y="2295144"/>
            <a:ext cx="4297680" cy="393192"/>
          </a:xfrm>
          <a:prstGeom prst="rect">
            <a:avLst/>
          </a:prstGeom>
          <a:solidFill>
            <a:srgbClr val="FFFFFF"/>
          </a:solidFill>
          <a:ln w="12700">
            <a:solidFill>
              <a:srgbClr val="E0E0E0"/>
            </a:solidFill>
            <a:prstDash val="solid"/>
          </a:ln>
        </p:spPr>
      </p:sp>
      <p:sp>
        <p:nvSpPr>
          <p:cNvPr id="35" name="Shape 33"/>
          <p:cNvSpPr/>
          <p:nvPr/>
        </p:nvSpPr>
        <p:spPr>
          <a:xfrm>
            <a:off x="4572000" y="2295144"/>
            <a:ext cx="54864" cy="393192"/>
          </a:xfrm>
          <a:prstGeom prst="rect">
            <a:avLst/>
          </a:prstGeom>
          <a:solidFill>
            <a:srgbClr val="97BC62"/>
          </a:solidFill>
          <a:ln w="12700">
            <a:solidFill>
              <a:srgbClr val="97BC62"/>
            </a:solidFill>
            <a:prstDash val="solid"/>
          </a:ln>
        </p:spPr>
      </p:sp>
      <p:sp>
        <p:nvSpPr>
          <p:cNvPr id="36" name="Text 34"/>
          <p:cNvSpPr/>
          <p:nvPr/>
        </p:nvSpPr>
        <p:spPr>
          <a:xfrm>
            <a:off x="4709160" y="2295144"/>
            <a:ext cx="2011680" cy="393192"/>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Humidity (%)</a:t>
            </a:r>
            <a:endParaRPr lang="en-US" sz="1100" dirty="0"/>
          </a:p>
        </p:txBody>
      </p:sp>
      <p:sp>
        <p:nvSpPr>
          <p:cNvPr id="37" name="Text 35"/>
          <p:cNvSpPr/>
          <p:nvPr/>
        </p:nvSpPr>
        <p:spPr>
          <a:xfrm>
            <a:off x="6766560" y="2295144"/>
            <a:ext cx="2011680" cy="39319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DHT11 reading</a:t>
            </a:r>
            <a:endParaRPr lang="en-US" sz="1000" dirty="0"/>
          </a:p>
        </p:txBody>
      </p:sp>
      <p:sp>
        <p:nvSpPr>
          <p:cNvPr id="38" name="Shape 36"/>
          <p:cNvSpPr/>
          <p:nvPr/>
        </p:nvSpPr>
        <p:spPr>
          <a:xfrm>
            <a:off x="4572000" y="2734056"/>
            <a:ext cx="4297680" cy="393192"/>
          </a:xfrm>
          <a:prstGeom prst="rect">
            <a:avLst/>
          </a:prstGeom>
          <a:solidFill>
            <a:srgbClr val="EEF5EE"/>
          </a:solidFill>
          <a:ln w="12700">
            <a:solidFill>
              <a:srgbClr val="E0E0E0"/>
            </a:solidFill>
            <a:prstDash val="solid"/>
          </a:ln>
        </p:spPr>
      </p:sp>
      <p:sp>
        <p:nvSpPr>
          <p:cNvPr id="39" name="Shape 37"/>
          <p:cNvSpPr/>
          <p:nvPr/>
        </p:nvSpPr>
        <p:spPr>
          <a:xfrm>
            <a:off x="4572000" y="2734056"/>
            <a:ext cx="54864" cy="393192"/>
          </a:xfrm>
          <a:prstGeom prst="rect">
            <a:avLst/>
          </a:prstGeom>
          <a:solidFill>
            <a:srgbClr val="97BC62"/>
          </a:solidFill>
          <a:ln w="12700">
            <a:solidFill>
              <a:srgbClr val="97BC62"/>
            </a:solidFill>
            <a:prstDash val="solid"/>
          </a:ln>
        </p:spPr>
      </p:sp>
      <p:sp>
        <p:nvSpPr>
          <p:cNvPr id="40" name="Text 38"/>
          <p:cNvSpPr/>
          <p:nvPr/>
        </p:nvSpPr>
        <p:spPr>
          <a:xfrm>
            <a:off x="4709160" y="2734056"/>
            <a:ext cx="2011680" cy="393192"/>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Moisture (%)</a:t>
            </a:r>
            <a:endParaRPr lang="en-US" sz="1100" dirty="0"/>
          </a:p>
        </p:txBody>
      </p:sp>
      <p:sp>
        <p:nvSpPr>
          <p:cNvPr id="41" name="Text 39"/>
          <p:cNvSpPr/>
          <p:nvPr/>
        </p:nvSpPr>
        <p:spPr>
          <a:xfrm>
            <a:off x="6766560" y="2734056"/>
            <a:ext cx="2011680" cy="39319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Calibrated 0-100%</a:t>
            </a:r>
            <a:endParaRPr lang="en-US" sz="1000" dirty="0"/>
          </a:p>
        </p:txBody>
      </p:sp>
      <p:sp>
        <p:nvSpPr>
          <p:cNvPr id="42" name="Shape 40"/>
          <p:cNvSpPr/>
          <p:nvPr/>
        </p:nvSpPr>
        <p:spPr>
          <a:xfrm>
            <a:off x="4572000" y="3172968"/>
            <a:ext cx="4297680" cy="393192"/>
          </a:xfrm>
          <a:prstGeom prst="rect">
            <a:avLst/>
          </a:prstGeom>
          <a:solidFill>
            <a:srgbClr val="FFFFFF"/>
          </a:solidFill>
          <a:ln w="12700">
            <a:solidFill>
              <a:srgbClr val="E0E0E0"/>
            </a:solidFill>
            <a:prstDash val="solid"/>
          </a:ln>
        </p:spPr>
      </p:sp>
      <p:sp>
        <p:nvSpPr>
          <p:cNvPr id="43" name="Shape 41"/>
          <p:cNvSpPr/>
          <p:nvPr/>
        </p:nvSpPr>
        <p:spPr>
          <a:xfrm>
            <a:off x="4572000" y="3172968"/>
            <a:ext cx="54864" cy="393192"/>
          </a:xfrm>
          <a:prstGeom prst="rect">
            <a:avLst/>
          </a:prstGeom>
          <a:solidFill>
            <a:srgbClr val="97BC62"/>
          </a:solidFill>
          <a:ln w="12700">
            <a:solidFill>
              <a:srgbClr val="97BC62"/>
            </a:solidFill>
            <a:prstDash val="solid"/>
          </a:ln>
        </p:spPr>
      </p:sp>
      <p:sp>
        <p:nvSpPr>
          <p:cNvPr id="44" name="Text 42"/>
          <p:cNvSpPr/>
          <p:nvPr/>
        </p:nvSpPr>
        <p:spPr>
          <a:xfrm>
            <a:off x="4709160" y="3172968"/>
            <a:ext cx="2011680" cy="393192"/>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Moisture Raw</a:t>
            </a:r>
            <a:endParaRPr lang="en-US" sz="1100" dirty="0"/>
          </a:p>
        </p:txBody>
      </p:sp>
      <p:sp>
        <p:nvSpPr>
          <p:cNvPr id="45" name="Text 43"/>
          <p:cNvSpPr/>
          <p:nvPr/>
        </p:nvSpPr>
        <p:spPr>
          <a:xfrm>
            <a:off x="6766560" y="3172968"/>
            <a:ext cx="2011680" cy="39319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Raw ADC value</a:t>
            </a:r>
            <a:endParaRPr lang="en-US" sz="1000" dirty="0"/>
          </a:p>
        </p:txBody>
      </p:sp>
      <p:sp>
        <p:nvSpPr>
          <p:cNvPr id="46" name="Shape 44"/>
          <p:cNvSpPr/>
          <p:nvPr/>
        </p:nvSpPr>
        <p:spPr>
          <a:xfrm>
            <a:off x="4572000" y="3611880"/>
            <a:ext cx="4297680" cy="393192"/>
          </a:xfrm>
          <a:prstGeom prst="rect">
            <a:avLst/>
          </a:prstGeom>
          <a:solidFill>
            <a:srgbClr val="EEF5EE"/>
          </a:solidFill>
          <a:ln w="12700">
            <a:solidFill>
              <a:srgbClr val="E0E0E0"/>
            </a:solidFill>
            <a:prstDash val="solid"/>
          </a:ln>
        </p:spPr>
      </p:sp>
      <p:sp>
        <p:nvSpPr>
          <p:cNvPr id="47" name="Shape 45"/>
          <p:cNvSpPr/>
          <p:nvPr/>
        </p:nvSpPr>
        <p:spPr>
          <a:xfrm>
            <a:off x="4572000" y="3611880"/>
            <a:ext cx="54864" cy="393192"/>
          </a:xfrm>
          <a:prstGeom prst="rect">
            <a:avLst/>
          </a:prstGeom>
          <a:solidFill>
            <a:srgbClr val="97BC62"/>
          </a:solidFill>
          <a:ln w="12700">
            <a:solidFill>
              <a:srgbClr val="97BC62"/>
            </a:solidFill>
            <a:prstDash val="solid"/>
          </a:ln>
        </p:spPr>
      </p:sp>
      <p:sp>
        <p:nvSpPr>
          <p:cNvPr id="48" name="Text 46"/>
          <p:cNvSpPr/>
          <p:nvPr/>
        </p:nvSpPr>
        <p:spPr>
          <a:xfrm>
            <a:off x="4709160" y="3611880"/>
            <a:ext cx="2011680" cy="393192"/>
          </a:xfrm>
          <a:prstGeom prst="rect">
            <a:avLst/>
          </a:prstGeom>
          <a:noFill/>
          <a:ln/>
        </p:spPr>
        <p:txBody>
          <a:bodyPr wrap="square" lIns="0" tIns="0" rIns="0" bIns="0" rtlCol="0" anchor="ctr"/>
          <a:lstStyle/>
          <a:p>
            <a:pPr indent="0" marL="0">
              <a:buNone/>
            </a:pPr>
            <a:r>
              <a:rPr lang="en-US" sz="1100" b="1" dirty="0">
                <a:solidFill>
                  <a:srgbClr val="1B2D1E"/>
                </a:solidFill>
                <a:latin typeface="Calibri" pitchFamily="34" charset="0"/>
                <a:ea typeface="Calibri" pitchFamily="34" charset="-122"/>
                <a:cs typeface="Calibri" pitchFamily="34" charset="-120"/>
              </a:rPr>
              <a:t>Status</a:t>
            </a:r>
            <a:endParaRPr lang="en-US" sz="1100" dirty="0"/>
          </a:p>
        </p:txBody>
      </p:sp>
      <p:sp>
        <p:nvSpPr>
          <p:cNvPr id="49" name="Text 47"/>
          <p:cNvSpPr/>
          <p:nvPr/>
        </p:nvSpPr>
        <p:spPr>
          <a:xfrm>
            <a:off x="6766560" y="3611880"/>
            <a:ext cx="2011680" cy="393192"/>
          </a:xfrm>
          <a:prstGeom prst="rect">
            <a:avLst/>
          </a:prstGeom>
          <a:noFill/>
          <a:ln/>
        </p:spPr>
        <p:txBody>
          <a:bodyPr wrap="square" lIns="0" tIns="0" rIns="0" bIns="0" rtlCol="0" anchor="ctr"/>
          <a:lstStyle/>
          <a:p>
            <a:pPr indent="0" marL="0">
              <a:buNone/>
            </a:pPr>
            <a:r>
              <a:rPr lang="en-US" sz="1000" dirty="0">
                <a:solidFill>
                  <a:srgbClr val="6B8F71"/>
                </a:solidFill>
                <a:latin typeface="Calibri" pitchFamily="34" charset="0"/>
                <a:ea typeface="Calibri" pitchFamily="34" charset="-122"/>
                <a:cs typeface="Calibri" pitchFamily="34" charset="-120"/>
              </a:rPr>
              <a:t>DRY / OK / WET label</a:t>
            </a:r>
            <a:endParaRPr lang="en-US" sz="1000" dirty="0"/>
          </a:p>
        </p:txBody>
      </p:sp>
      <p:sp>
        <p:nvSpPr>
          <p:cNvPr id="50" name="Shape 48"/>
          <p:cNvSpPr/>
          <p:nvPr/>
        </p:nvSpPr>
        <p:spPr>
          <a:xfrm>
            <a:off x="274320" y="4480560"/>
            <a:ext cx="8595360" cy="384048"/>
          </a:xfrm>
          <a:prstGeom prst="rect">
            <a:avLst/>
          </a:prstGeom>
          <a:solidFill>
            <a:srgbClr val="E3F2FD"/>
          </a:solidFill>
          <a:ln w="12700">
            <a:solidFill>
              <a:srgbClr val="90CAF9"/>
            </a:solidFill>
            <a:prstDash val="solid"/>
          </a:ln>
        </p:spPr>
      </p:sp>
      <p:sp>
        <p:nvSpPr>
          <p:cNvPr id="51" name="Text 49"/>
          <p:cNvSpPr/>
          <p:nvPr/>
        </p:nvSpPr>
        <p:spPr>
          <a:xfrm>
            <a:off x="457200" y="4480560"/>
            <a:ext cx="8229600" cy="384048"/>
          </a:xfrm>
          <a:prstGeom prst="rect">
            <a:avLst/>
          </a:prstGeom>
          <a:noFill/>
          <a:ln/>
        </p:spPr>
        <p:txBody>
          <a:bodyPr wrap="square" lIns="0" tIns="0" rIns="0" bIns="0" rtlCol="0" anchor="ctr"/>
          <a:lstStyle/>
          <a:p>
            <a:pPr indent="0" marL="0">
              <a:buNone/>
            </a:pPr>
            <a:r>
              <a:rPr lang="en-US" sz="1000" dirty="0">
                <a:solidFill>
                  <a:srgbClr val="1565C0"/>
                </a:solidFill>
                <a:latin typeface="Calibri" pitchFamily="34" charset="0"/>
                <a:ea typeface="Calibri" pitchFamily="34" charset="-122"/>
                <a:cs typeface="Calibri" pitchFamily="34" charset="-120"/>
              </a:rPr>
              <a:t>AI Integration Path: Tier 1 — use AI to analyze sheet data and write threshold alerts  |  Tier 2 — Edge Impulse soil classification model deployed to ESP32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Student Challenge Card</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Extend Your Greenhouse</a:t>
            </a:r>
            <a:endParaRPr lang="en-US" sz="1100" dirty="0"/>
          </a:p>
        </p:txBody>
      </p:sp>
      <p:sp>
        <p:nvSpPr>
          <p:cNvPr id="5" name="Text 3"/>
          <p:cNvSpPr/>
          <p:nvPr/>
        </p:nvSpPr>
        <p:spPr>
          <a:xfrm>
            <a:off x="365760" y="640080"/>
            <a:ext cx="8412480" cy="365760"/>
          </a:xfrm>
          <a:prstGeom prst="rect">
            <a:avLst/>
          </a:prstGeom>
          <a:noFill/>
          <a:ln/>
        </p:spPr>
        <p:txBody>
          <a:bodyPr wrap="square" rtlCol="0" anchor="ctr"/>
          <a:lstStyle/>
          <a:p>
            <a:pPr indent="0" marL="0">
              <a:buNone/>
            </a:pPr>
            <a:r>
              <a:rPr lang="en-US" sz="1400" b="1" dirty="0">
                <a:solidFill>
                  <a:srgbClr val="2C5F2D"/>
                </a:solidFill>
                <a:latin typeface="Calibri" pitchFamily="34" charset="0"/>
                <a:ea typeface="Calibri" pitchFamily="34" charset="-122"/>
                <a:cs typeface="Calibri" pitchFamily="34" charset="-120"/>
              </a:rPr>
              <a:t>You built it — now make it smarter.</a:t>
            </a:r>
            <a:endParaRPr lang="en-US" sz="1400" dirty="0"/>
          </a:p>
        </p:txBody>
      </p:sp>
      <p:sp>
        <p:nvSpPr>
          <p:cNvPr id="6" name="Shape 4"/>
          <p:cNvSpPr/>
          <p:nvPr/>
        </p:nvSpPr>
        <p:spPr>
          <a:xfrm>
            <a:off x="274320" y="1097280"/>
            <a:ext cx="8595360" cy="822960"/>
          </a:xfrm>
          <a:prstGeom prst="rect">
            <a:avLst/>
          </a:prstGeom>
          <a:solidFill>
            <a:srgbClr val="FFFFFF"/>
          </a:solidFill>
          <a:ln w="12700">
            <a:solidFill>
              <a:srgbClr val="E0E0E0"/>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274320" y="1097280"/>
            <a:ext cx="54864" cy="822960"/>
          </a:xfrm>
          <a:prstGeom prst="rect">
            <a:avLst/>
          </a:prstGeom>
          <a:solidFill>
            <a:srgbClr val="4A7C59"/>
          </a:solidFill>
          <a:ln w="12700">
            <a:solidFill>
              <a:srgbClr val="4A7C59"/>
            </a:solidFill>
            <a:prstDash val="solid"/>
          </a:ln>
        </p:spPr>
      </p:sp>
      <p:sp>
        <p:nvSpPr>
          <p:cNvPr id="8" name="Text 6"/>
          <p:cNvSpPr/>
          <p:nvPr/>
        </p:nvSpPr>
        <p:spPr>
          <a:xfrm>
            <a:off x="457200" y="1143000"/>
            <a:ext cx="1828800" cy="347472"/>
          </a:xfrm>
          <a:prstGeom prst="rect">
            <a:avLst/>
          </a:prstGeom>
          <a:noFill/>
          <a:ln/>
        </p:spPr>
        <p:txBody>
          <a:bodyPr wrap="square" rtlCol="0" anchor="ctr"/>
          <a:lstStyle/>
          <a:p>
            <a:pPr indent="0" marL="0">
              <a:buNone/>
            </a:pPr>
            <a:r>
              <a:rPr lang="en-US" sz="1300" b="1" dirty="0">
                <a:solidFill>
                  <a:srgbClr val="4A7C59"/>
                </a:solidFill>
                <a:latin typeface="Calibri" pitchFamily="34" charset="0"/>
                <a:ea typeface="Calibri" pitchFamily="34" charset="-122"/>
                <a:cs typeface="Calibri" pitchFamily="34" charset="-120"/>
              </a:rPr>
              <a:t>1  Beginner</a:t>
            </a:r>
            <a:endParaRPr lang="en-US" sz="1300" dirty="0"/>
          </a:p>
        </p:txBody>
      </p:sp>
      <p:sp>
        <p:nvSpPr>
          <p:cNvPr id="9" name="Text 7"/>
          <p:cNvSpPr/>
          <p:nvPr/>
        </p:nvSpPr>
        <p:spPr>
          <a:xfrm>
            <a:off x="457200" y="1481328"/>
            <a:ext cx="8229600" cy="365760"/>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Add a buzzer that beeps when moisture drops below DRY threshold</a:t>
            </a:r>
            <a:endParaRPr lang="en-US" sz="1200" dirty="0"/>
          </a:p>
        </p:txBody>
      </p:sp>
      <p:sp>
        <p:nvSpPr>
          <p:cNvPr id="10" name="Shape 8"/>
          <p:cNvSpPr/>
          <p:nvPr/>
        </p:nvSpPr>
        <p:spPr>
          <a:xfrm>
            <a:off x="274320" y="2011680"/>
            <a:ext cx="8595360" cy="822960"/>
          </a:xfrm>
          <a:prstGeom prst="rect">
            <a:avLst/>
          </a:prstGeom>
          <a:solidFill>
            <a:srgbClr val="FFFFFF"/>
          </a:solidFill>
          <a:ln w="12700">
            <a:solidFill>
              <a:srgbClr val="E0E0E0"/>
            </a:solidFill>
            <a:prstDash val="solid"/>
          </a:ln>
          <a:effectLst>
            <a:outerShdw sx="100000" sy="100000" kx="0" ky="0" algn="bl" rotWithShape="0" blurRad="76200" dist="25400" dir="8100000">
              <a:srgbClr val="000000">
                <a:alpha val="12000"/>
              </a:srgbClr>
            </a:outerShdw>
          </a:effectLst>
        </p:spPr>
      </p:sp>
      <p:sp>
        <p:nvSpPr>
          <p:cNvPr id="11" name="Shape 9"/>
          <p:cNvSpPr/>
          <p:nvPr/>
        </p:nvSpPr>
        <p:spPr>
          <a:xfrm>
            <a:off x="274320" y="2011680"/>
            <a:ext cx="54864" cy="822960"/>
          </a:xfrm>
          <a:prstGeom prst="rect">
            <a:avLst/>
          </a:prstGeom>
          <a:solidFill>
            <a:srgbClr val="E8873A"/>
          </a:solidFill>
          <a:ln w="12700">
            <a:solidFill>
              <a:srgbClr val="E8873A"/>
            </a:solidFill>
            <a:prstDash val="solid"/>
          </a:ln>
        </p:spPr>
      </p:sp>
      <p:sp>
        <p:nvSpPr>
          <p:cNvPr id="12" name="Text 10"/>
          <p:cNvSpPr/>
          <p:nvPr/>
        </p:nvSpPr>
        <p:spPr>
          <a:xfrm>
            <a:off x="457200" y="2057400"/>
            <a:ext cx="1828800" cy="347472"/>
          </a:xfrm>
          <a:prstGeom prst="rect">
            <a:avLst/>
          </a:prstGeom>
          <a:noFill/>
          <a:ln/>
        </p:spPr>
        <p:txBody>
          <a:bodyPr wrap="square" rtlCol="0" anchor="ctr"/>
          <a:lstStyle/>
          <a:p>
            <a:pPr indent="0" marL="0">
              <a:buNone/>
            </a:pPr>
            <a:r>
              <a:rPr lang="en-US" sz="1300" b="1" dirty="0">
                <a:solidFill>
                  <a:srgbClr val="E8873A"/>
                </a:solidFill>
                <a:latin typeface="Calibri" pitchFamily="34" charset="0"/>
                <a:ea typeface="Calibri" pitchFamily="34" charset="-122"/>
                <a:cs typeface="Calibri" pitchFamily="34" charset="-120"/>
              </a:rPr>
              <a:t>2  Intermediate</a:t>
            </a:r>
            <a:endParaRPr lang="en-US" sz="1300" dirty="0"/>
          </a:p>
        </p:txBody>
      </p:sp>
      <p:sp>
        <p:nvSpPr>
          <p:cNvPr id="13" name="Text 11"/>
          <p:cNvSpPr/>
          <p:nvPr/>
        </p:nvSpPr>
        <p:spPr>
          <a:xfrm>
            <a:off x="457200" y="2395728"/>
            <a:ext cx="8229600" cy="365760"/>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Add a relay and small pump — auto-water when soil is DRY</a:t>
            </a:r>
            <a:endParaRPr lang="en-US" sz="1200" dirty="0"/>
          </a:p>
        </p:txBody>
      </p:sp>
      <p:sp>
        <p:nvSpPr>
          <p:cNvPr id="14" name="Shape 12"/>
          <p:cNvSpPr/>
          <p:nvPr/>
        </p:nvSpPr>
        <p:spPr>
          <a:xfrm>
            <a:off x="274320" y="2926080"/>
            <a:ext cx="8595360" cy="822960"/>
          </a:xfrm>
          <a:prstGeom prst="rect">
            <a:avLst/>
          </a:prstGeom>
          <a:solidFill>
            <a:srgbClr val="FFFFFF"/>
          </a:solidFill>
          <a:ln w="12700">
            <a:solidFill>
              <a:srgbClr val="E0E0E0"/>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274320" y="2926080"/>
            <a:ext cx="54864" cy="822960"/>
          </a:xfrm>
          <a:prstGeom prst="rect">
            <a:avLst/>
          </a:prstGeom>
          <a:solidFill>
            <a:srgbClr val="1565C0"/>
          </a:solidFill>
          <a:ln w="12700">
            <a:solidFill>
              <a:srgbClr val="1565C0"/>
            </a:solidFill>
            <a:prstDash val="solid"/>
          </a:ln>
        </p:spPr>
      </p:sp>
      <p:sp>
        <p:nvSpPr>
          <p:cNvPr id="16" name="Text 14"/>
          <p:cNvSpPr/>
          <p:nvPr/>
        </p:nvSpPr>
        <p:spPr>
          <a:xfrm>
            <a:off x="457200" y="2971800"/>
            <a:ext cx="1828800" cy="347472"/>
          </a:xfrm>
          <a:prstGeom prst="rect">
            <a:avLst/>
          </a:prstGeom>
          <a:noFill/>
          <a:ln/>
        </p:spPr>
        <p:txBody>
          <a:bodyPr wrap="square" rtlCol="0" anchor="ctr"/>
          <a:lstStyle/>
          <a:p>
            <a:pPr indent="0" marL="0">
              <a:buNone/>
            </a:pPr>
            <a:r>
              <a:rPr lang="en-US" sz="1300" b="1" dirty="0">
                <a:solidFill>
                  <a:srgbClr val="1565C0"/>
                </a:solidFill>
                <a:latin typeface="Calibri" pitchFamily="34" charset="0"/>
                <a:ea typeface="Calibri" pitchFamily="34" charset="-122"/>
                <a:cs typeface="Calibri" pitchFamily="34" charset="-120"/>
              </a:rPr>
              <a:t>3  Advanced</a:t>
            </a:r>
            <a:endParaRPr lang="en-US" sz="1300" dirty="0"/>
          </a:p>
        </p:txBody>
      </p:sp>
      <p:sp>
        <p:nvSpPr>
          <p:cNvPr id="17" name="Text 15"/>
          <p:cNvSpPr/>
          <p:nvPr/>
        </p:nvSpPr>
        <p:spPr>
          <a:xfrm>
            <a:off x="457200" y="3310128"/>
            <a:ext cx="8229600" cy="365760"/>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Use Edge Impulse to train a model that predicts when watering is needed based on historical data</a:t>
            </a:r>
            <a:endParaRPr lang="en-US" sz="1200" dirty="0"/>
          </a:p>
        </p:txBody>
      </p:sp>
      <p:sp>
        <p:nvSpPr>
          <p:cNvPr id="18" name="Shape 16"/>
          <p:cNvSpPr/>
          <p:nvPr/>
        </p:nvSpPr>
        <p:spPr>
          <a:xfrm>
            <a:off x="274320" y="3840480"/>
            <a:ext cx="8595360" cy="822960"/>
          </a:xfrm>
          <a:prstGeom prst="rect">
            <a:avLst/>
          </a:prstGeom>
          <a:solidFill>
            <a:srgbClr val="FFFFFF"/>
          </a:solidFill>
          <a:ln w="12700">
            <a:solidFill>
              <a:srgbClr val="E0E0E0"/>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274320" y="3840480"/>
            <a:ext cx="54864" cy="822960"/>
          </a:xfrm>
          <a:prstGeom prst="rect">
            <a:avLst/>
          </a:prstGeom>
          <a:solidFill>
            <a:srgbClr val="1B3A2D"/>
          </a:solidFill>
          <a:ln w="12700">
            <a:solidFill>
              <a:srgbClr val="1B3A2D"/>
            </a:solidFill>
            <a:prstDash val="solid"/>
          </a:ln>
        </p:spPr>
      </p:sp>
      <p:sp>
        <p:nvSpPr>
          <p:cNvPr id="20" name="Text 18"/>
          <p:cNvSpPr/>
          <p:nvPr/>
        </p:nvSpPr>
        <p:spPr>
          <a:xfrm>
            <a:off x="457200" y="3886200"/>
            <a:ext cx="1828800" cy="347472"/>
          </a:xfrm>
          <a:prstGeom prst="rect">
            <a:avLst/>
          </a:prstGeom>
          <a:noFill/>
          <a:ln/>
        </p:spPr>
        <p:txBody>
          <a:bodyPr wrap="square" rtlCol="0" anchor="ctr"/>
          <a:lstStyle/>
          <a:p>
            <a:pPr indent="0" marL="0">
              <a:buNone/>
            </a:pPr>
            <a:r>
              <a:rPr lang="en-US" sz="1300" b="1" dirty="0">
                <a:solidFill>
                  <a:srgbClr val="1B3A2D"/>
                </a:solidFill>
                <a:latin typeface="Calibri" pitchFamily="34" charset="0"/>
                <a:ea typeface="Calibri" pitchFamily="34" charset="-122"/>
                <a:cs typeface="Calibri" pitchFamily="34" charset="-120"/>
              </a:rPr>
              <a:t>4  Expert</a:t>
            </a:r>
            <a:endParaRPr lang="en-US" sz="1300" dirty="0"/>
          </a:p>
        </p:txBody>
      </p:sp>
      <p:sp>
        <p:nvSpPr>
          <p:cNvPr id="21" name="Text 19"/>
          <p:cNvSpPr/>
          <p:nvPr/>
        </p:nvSpPr>
        <p:spPr>
          <a:xfrm>
            <a:off x="457200" y="4224528"/>
            <a:ext cx="8229600" cy="365760"/>
          </a:xfrm>
          <a:prstGeom prst="rect">
            <a:avLst/>
          </a:prstGeom>
          <a:noFill/>
          <a:ln/>
        </p:spPr>
        <p:txBody>
          <a:bodyPr wrap="square" rtlCol="0" anchor="ctr"/>
          <a:lstStyle/>
          <a:p>
            <a:pPr indent="0" marL="0">
              <a:buNone/>
            </a:pPr>
            <a:r>
              <a:rPr lang="en-US" sz="1200" dirty="0">
                <a:solidFill>
                  <a:srgbClr val="1B2D1E"/>
                </a:solidFill>
                <a:latin typeface="Calibri" pitchFamily="34" charset="0"/>
                <a:ea typeface="Calibri" pitchFamily="34" charset="-122"/>
                <a:cs typeface="Calibri" pitchFamily="34" charset="-120"/>
              </a:rPr>
              <a:t>Build a multi-plant system with 3 sensors and a dashboard showing all zones in Google Sheets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274320" y="4572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Career Connections</a:t>
            </a:r>
            <a:endParaRPr lang="en-US" sz="1800" dirty="0"/>
          </a:p>
        </p:txBody>
      </p:sp>
      <p:sp>
        <p:nvSpPr>
          <p:cNvPr id="4" name="Text 2"/>
          <p:cNvSpPr/>
          <p:nvPr/>
        </p:nvSpPr>
        <p:spPr>
          <a:xfrm>
            <a:off x="7315200" y="45720"/>
            <a:ext cx="1645920" cy="411480"/>
          </a:xfrm>
          <a:prstGeom prst="rect">
            <a:avLst/>
          </a:prstGeom>
          <a:noFill/>
          <a:ln/>
        </p:spPr>
        <p:txBody>
          <a:bodyPr wrap="square" lIns="0" tIns="0" rIns="0" bIns="0" rtlCol="0" anchor="ctr"/>
          <a:lstStyle/>
          <a:p>
            <a:pPr algn="r" indent="0" marL="0">
              <a:buNone/>
            </a:pPr>
            <a:r>
              <a:rPr lang="en-US" sz="1100" dirty="0">
                <a:solidFill>
                  <a:srgbClr val="97BC62"/>
                </a:solidFill>
                <a:latin typeface="Calibri" pitchFamily="34" charset="0"/>
                <a:ea typeface="Calibri" pitchFamily="34" charset="-122"/>
                <a:cs typeface="Calibri" pitchFamily="34" charset="-120"/>
              </a:rPr>
              <a:t>Workforce Pathway</a:t>
            </a:r>
            <a:endParaRPr lang="en-US" sz="1100" dirty="0"/>
          </a:p>
        </p:txBody>
      </p:sp>
      <p:sp>
        <p:nvSpPr>
          <p:cNvPr id="5" name="Text 3"/>
          <p:cNvSpPr/>
          <p:nvPr/>
        </p:nvSpPr>
        <p:spPr>
          <a:xfrm>
            <a:off x="365760" y="640080"/>
            <a:ext cx="8412480" cy="365760"/>
          </a:xfrm>
          <a:prstGeom prst="rect">
            <a:avLst/>
          </a:prstGeom>
          <a:noFill/>
          <a:ln/>
        </p:spPr>
        <p:txBody>
          <a:bodyPr wrap="square"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Skills You Built in This Module</a:t>
            </a:r>
            <a:endParaRPr lang="en-US" sz="1500" dirty="0"/>
          </a:p>
        </p:txBody>
      </p:sp>
      <p:sp>
        <p:nvSpPr>
          <p:cNvPr id="6" name="Shape 4"/>
          <p:cNvSpPr/>
          <p:nvPr/>
        </p:nvSpPr>
        <p:spPr>
          <a:xfrm>
            <a:off x="274320" y="1097280"/>
            <a:ext cx="8595360" cy="594360"/>
          </a:xfrm>
          <a:prstGeom prst="rect">
            <a:avLst/>
          </a:prstGeom>
          <a:solidFill>
            <a:srgbClr val="FFFFFF"/>
          </a:solidFill>
          <a:ln w="12700">
            <a:solidFill>
              <a:srgbClr val="E0E0E0"/>
            </a:solidFill>
            <a:prstDash val="solid"/>
          </a:ln>
        </p:spPr>
      </p:sp>
      <p:sp>
        <p:nvSpPr>
          <p:cNvPr id="7" name="Shape 5"/>
          <p:cNvSpPr/>
          <p:nvPr/>
        </p:nvSpPr>
        <p:spPr>
          <a:xfrm>
            <a:off x="274320" y="1097280"/>
            <a:ext cx="54864" cy="594360"/>
          </a:xfrm>
          <a:prstGeom prst="rect">
            <a:avLst/>
          </a:prstGeom>
          <a:solidFill>
            <a:srgbClr val="97BC62"/>
          </a:solidFill>
          <a:ln w="12700">
            <a:solidFill>
              <a:srgbClr val="97BC62"/>
            </a:solidFill>
            <a:prstDash val="solid"/>
          </a:ln>
        </p:spPr>
      </p:sp>
      <p:sp>
        <p:nvSpPr>
          <p:cNvPr id="8" name="Text 6"/>
          <p:cNvSpPr/>
          <p:nvPr/>
        </p:nvSpPr>
        <p:spPr>
          <a:xfrm>
            <a:off x="457200" y="1097280"/>
            <a:ext cx="2743200" cy="594360"/>
          </a:xfrm>
          <a:prstGeom prst="rect">
            <a:avLst/>
          </a:prstGeom>
          <a:noFill/>
          <a:ln/>
        </p:spPr>
        <p:txBody>
          <a:bodyPr wrap="square" lIns="0" tIns="0" rIns="0" bIns="0" rtlCol="0" anchor="ctr"/>
          <a:lstStyle/>
          <a:p>
            <a:pPr indent="0" marL="0">
              <a:buNone/>
            </a:pPr>
            <a:r>
              <a:rPr lang="en-US" sz="1200" b="1" dirty="0">
                <a:solidFill>
                  <a:srgbClr val="1B2D1E"/>
                </a:solidFill>
                <a:latin typeface="Calibri" pitchFamily="34" charset="0"/>
                <a:ea typeface="Calibri" pitchFamily="34" charset="-122"/>
                <a:cs typeface="Calibri" pitchFamily="34" charset="-120"/>
              </a:rPr>
              <a:t>I2C Communication</a:t>
            </a:r>
            <a:endParaRPr lang="en-US" sz="1200" dirty="0"/>
          </a:p>
        </p:txBody>
      </p:sp>
      <p:sp>
        <p:nvSpPr>
          <p:cNvPr id="9" name="Text 7"/>
          <p:cNvSpPr/>
          <p:nvPr/>
        </p:nvSpPr>
        <p:spPr>
          <a:xfrm>
            <a:off x="3383280" y="1097280"/>
            <a:ext cx="5303520" cy="594360"/>
          </a:xfrm>
          <a:prstGeom prst="rect">
            <a:avLst/>
          </a:prstGeom>
          <a:noFill/>
          <a:ln/>
        </p:spPr>
        <p:txBody>
          <a:bodyPr wrap="square" lIns="0" tIns="0" rIns="0" bIns="0" rtlCol="0" anchor="ctr"/>
          <a:lstStyle/>
          <a:p>
            <a:pPr indent="0" marL="0">
              <a:buNone/>
            </a:pPr>
            <a:r>
              <a:rPr lang="en-US" sz="1100" dirty="0">
                <a:solidFill>
                  <a:srgbClr val="6B8F71"/>
                </a:solidFill>
                <a:latin typeface="Calibri" pitchFamily="34" charset="0"/>
                <a:ea typeface="Calibri" pitchFamily="34" charset="-122"/>
                <a:cs typeface="Calibri" pitchFamily="34" charset="-120"/>
              </a:rPr>
              <a:t>Industry standard protocol used in every embedded system</a:t>
            </a:r>
            <a:endParaRPr lang="en-US" sz="1100" dirty="0"/>
          </a:p>
        </p:txBody>
      </p:sp>
      <p:sp>
        <p:nvSpPr>
          <p:cNvPr id="10" name="Shape 8"/>
          <p:cNvSpPr/>
          <p:nvPr/>
        </p:nvSpPr>
        <p:spPr>
          <a:xfrm>
            <a:off x="274320" y="1755648"/>
            <a:ext cx="8595360" cy="594360"/>
          </a:xfrm>
          <a:prstGeom prst="rect">
            <a:avLst/>
          </a:prstGeom>
          <a:solidFill>
            <a:srgbClr val="EEF5EE"/>
          </a:solidFill>
          <a:ln w="12700">
            <a:solidFill>
              <a:srgbClr val="E0E0E0"/>
            </a:solidFill>
            <a:prstDash val="solid"/>
          </a:ln>
        </p:spPr>
      </p:sp>
      <p:sp>
        <p:nvSpPr>
          <p:cNvPr id="11" name="Shape 9"/>
          <p:cNvSpPr/>
          <p:nvPr/>
        </p:nvSpPr>
        <p:spPr>
          <a:xfrm>
            <a:off x="274320" y="1755648"/>
            <a:ext cx="54864" cy="594360"/>
          </a:xfrm>
          <a:prstGeom prst="rect">
            <a:avLst/>
          </a:prstGeom>
          <a:solidFill>
            <a:srgbClr val="97BC62"/>
          </a:solidFill>
          <a:ln w="12700">
            <a:solidFill>
              <a:srgbClr val="97BC62"/>
            </a:solidFill>
            <a:prstDash val="solid"/>
          </a:ln>
        </p:spPr>
      </p:sp>
      <p:sp>
        <p:nvSpPr>
          <p:cNvPr id="12" name="Text 10"/>
          <p:cNvSpPr/>
          <p:nvPr/>
        </p:nvSpPr>
        <p:spPr>
          <a:xfrm>
            <a:off x="457200" y="1755648"/>
            <a:ext cx="2743200" cy="594360"/>
          </a:xfrm>
          <a:prstGeom prst="rect">
            <a:avLst/>
          </a:prstGeom>
          <a:noFill/>
          <a:ln/>
        </p:spPr>
        <p:txBody>
          <a:bodyPr wrap="square" lIns="0" tIns="0" rIns="0" bIns="0" rtlCol="0" anchor="ctr"/>
          <a:lstStyle/>
          <a:p>
            <a:pPr indent="0" marL="0">
              <a:buNone/>
            </a:pPr>
            <a:r>
              <a:rPr lang="en-US" sz="1200" b="1" dirty="0">
                <a:solidFill>
                  <a:srgbClr val="1B2D1E"/>
                </a:solidFill>
                <a:latin typeface="Calibri" pitchFamily="34" charset="0"/>
                <a:ea typeface="Calibri" pitchFamily="34" charset="-122"/>
                <a:cs typeface="Calibri" pitchFamily="34" charset="-120"/>
              </a:rPr>
              <a:t>Sensor Calibration</a:t>
            </a:r>
            <a:endParaRPr lang="en-US" sz="1200" dirty="0"/>
          </a:p>
        </p:txBody>
      </p:sp>
      <p:sp>
        <p:nvSpPr>
          <p:cNvPr id="13" name="Text 11"/>
          <p:cNvSpPr/>
          <p:nvPr/>
        </p:nvSpPr>
        <p:spPr>
          <a:xfrm>
            <a:off x="3383280" y="1755648"/>
            <a:ext cx="5303520" cy="594360"/>
          </a:xfrm>
          <a:prstGeom prst="rect">
            <a:avLst/>
          </a:prstGeom>
          <a:noFill/>
          <a:ln/>
        </p:spPr>
        <p:txBody>
          <a:bodyPr wrap="square" lIns="0" tIns="0" rIns="0" bIns="0" rtlCol="0" anchor="ctr"/>
          <a:lstStyle/>
          <a:p>
            <a:pPr indent="0" marL="0">
              <a:buNone/>
            </a:pPr>
            <a:r>
              <a:rPr lang="en-US" sz="1100" dirty="0">
                <a:solidFill>
                  <a:srgbClr val="6B8F71"/>
                </a:solidFill>
                <a:latin typeface="Calibri" pitchFamily="34" charset="0"/>
                <a:ea typeface="Calibri" pitchFamily="34" charset="-122"/>
                <a:cs typeface="Calibri" pitchFamily="34" charset="-120"/>
              </a:rPr>
              <a:t>Critical skill in biomedical, AgTech, and manufacturing QA</a:t>
            </a:r>
            <a:endParaRPr lang="en-US" sz="1100" dirty="0"/>
          </a:p>
        </p:txBody>
      </p:sp>
      <p:sp>
        <p:nvSpPr>
          <p:cNvPr id="14" name="Shape 12"/>
          <p:cNvSpPr/>
          <p:nvPr/>
        </p:nvSpPr>
        <p:spPr>
          <a:xfrm>
            <a:off x="274320" y="2414016"/>
            <a:ext cx="8595360" cy="594360"/>
          </a:xfrm>
          <a:prstGeom prst="rect">
            <a:avLst/>
          </a:prstGeom>
          <a:solidFill>
            <a:srgbClr val="FFFFFF"/>
          </a:solidFill>
          <a:ln w="12700">
            <a:solidFill>
              <a:srgbClr val="E0E0E0"/>
            </a:solidFill>
            <a:prstDash val="solid"/>
          </a:ln>
        </p:spPr>
      </p:sp>
      <p:sp>
        <p:nvSpPr>
          <p:cNvPr id="15" name="Shape 13"/>
          <p:cNvSpPr/>
          <p:nvPr/>
        </p:nvSpPr>
        <p:spPr>
          <a:xfrm>
            <a:off x="274320" y="2414016"/>
            <a:ext cx="54864" cy="594360"/>
          </a:xfrm>
          <a:prstGeom prst="rect">
            <a:avLst/>
          </a:prstGeom>
          <a:solidFill>
            <a:srgbClr val="97BC62"/>
          </a:solidFill>
          <a:ln w="12700">
            <a:solidFill>
              <a:srgbClr val="97BC62"/>
            </a:solidFill>
            <a:prstDash val="solid"/>
          </a:ln>
        </p:spPr>
      </p:sp>
      <p:sp>
        <p:nvSpPr>
          <p:cNvPr id="16" name="Text 14"/>
          <p:cNvSpPr/>
          <p:nvPr/>
        </p:nvSpPr>
        <p:spPr>
          <a:xfrm>
            <a:off x="457200" y="2414016"/>
            <a:ext cx="2743200" cy="594360"/>
          </a:xfrm>
          <a:prstGeom prst="rect">
            <a:avLst/>
          </a:prstGeom>
          <a:noFill/>
          <a:ln/>
        </p:spPr>
        <p:txBody>
          <a:bodyPr wrap="square" lIns="0" tIns="0" rIns="0" bIns="0" rtlCol="0" anchor="ctr"/>
          <a:lstStyle/>
          <a:p>
            <a:pPr indent="0" marL="0">
              <a:buNone/>
            </a:pPr>
            <a:r>
              <a:rPr lang="en-US" sz="1200" b="1" dirty="0">
                <a:solidFill>
                  <a:srgbClr val="1B2D1E"/>
                </a:solidFill>
                <a:latin typeface="Calibri" pitchFamily="34" charset="0"/>
                <a:ea typeface="Calibri" pitchFamily="34" charset="-122"/>
                <a:cs typeface="Calibri" pitchFamily="34" charset="-120"/>
              </a:rPr>
              <a:t>Data Logging</a:t>
            </a:r>
            <a:endParaRPr lang="en-US" sz="1200" dirty="0"/>
          </a:p>
        </p:txBody>
      </p:sp>
      <p:sp>
        <p:nvSpPr>
          <p:cNvPr id="17" name="Text 15"/>
          <p:cNvSpPr/>
          <p:nvPr/>
        </p:nvSpPr>
        <p:spPr>
          <a:xfrm>
            <a:off x="3383280" y="2414016"/>
            <a:ext cx="5303520" cy="594360"/>
          </a:xfrm>
          <a:prstGeom prst="rect">
            <a:avLst/>
          </a:prstGeom>
          <a:noFill/>
          <a:ln/>
        </p:spPr>
        <p:txBody>
          <a:bodyPr wrap="square" lIns="0" tIns="0" rIns="0" bIns="0" rtlCol="0" anchor="ctr"/>
          <a:lstStyle/>
          <a:p>
            <a:pPr indent="0" marL="0">
              <a:buNone/>
            </a:pPr>
            <a:r>
              <a:rPr lang="en-US" sz="1100" dirty="0">
                <a:solidFill>
                  <a:srgbClr val="6B8F71"/>
                </a:solidFill>
                <a:latin typeface="Calibri" pitchFamily="34" charset="0"/>
                <a:ea typeface="Calibri" pitchFamily="34" charset="-122"/>
                <a:cs typeface="Calibri" pitchFamily="34" charset="-120"/>
              </a:rPr>
              <a:t>Every modern manufacturing system logs sensor data continuously</a:t>
            </a:r>
            <a:endParaRPr lang="en-US" sz="1100" dirty="0"/>
          </a:p>
        </p:txBody>
      </p:sp>
      <p:sp>
        <p:nvSpPr>
          <p:cNvPr id="18" name="Shape 16"/>
          <p:cNvSpPr/>
          <p:nvPr/>
        </p:nvSpPr>
        <p:spPr>
          <a:xfrm>
            <a:off x="274320" y="3072384"/>
            <a:ext cx="8595360" cy="594360"/>
          </a:xfrm>
          <a:prstGeom prst="rect">
            <a:avLst/>
          </a:prstGeom>
          <a:solidFill>
            <a:srgbClr val="EEF5EE"/>
          </a:solidFill>
          <a:ln w="12700">
            <a:solidFill>
              <a:srgbClr val="E0E0E0"/>
            </a:solidFill>
            <a:prstDash val="solid"/>
          </a:ln>
        </p:spPr>
      </p:sp>
      <p:sp>
        <p:nvSpPr>
          <p:cNvPr id="19" name="Shape 17"/>
          <p:cNvSpPr/>
          <p:nvPr/>
        </p:nvSpPr>
        <p:spPr>
          <a:xfrm>
            <a:off x="274320" y="3072384"/>
            <a:ext cx="54864" cy="594360"/>
          </a:xfrm>
          <a:prstGeom prst="rect">
            <a:avLst/>
          </a:prstGeom>
          <a:solidFill>
            <a:srgbClr val="97BC62"/>
          </a:solidFill>
          <a:ln w="12700">
            <a:solidFill>
              <a:srgbClr val="97BC62"/>
            </a:solidFill>
            <a:prstDash val="solid"/>
          </a:ln>
        </p:spPr>
      </p:sp>
      <p:sp>
        <p:nvSpPr>
          <p:cNvPr id="20" name="Text 18"/>
          <p:cNvSpPr/>
          <p:nvPr/>
        </p:nvSpPr>
        <p:spPr>
          <a:xfrm>
            <a:off x="457200" y="3072384"/>
            <a:ext cx="2743200" cy="594360"/>
          </a:xfrm>
          <a:prstGeom prst="rect">
            <a:avLst/>
          </a:prstGeom>
          <a:noFill/>
          <a:ln/>
        </p:spPr>
        <p:txBody>
          <a:bodyPr wrap="square" lIns="0" tIns="0" rIns="0" bIns="0" rtlCol="0" anchor="ctr"/>
          <a:lstStyle/>
          <a:p>
            <a:pPr indent="0" marL="0">
              <a:buNone/>
            </a:pPr>
            <a:r>
              <a:rPr lang="en-US" sz="1200" b="1" dirty="0">
                <a:solidFill>
                  <a:srgbClr val="1B2D1E"/>
                </a:solidFill>
                <a:latin typeface="Calibri" pitchFamily="34" charset="0"/>
                <a:ea typeface="Calibri" pitchFamily="34" charset="-122"/>
                <a:cs typeface="Calibri" pitchFamily="34" charset="-120"/>
              </a:rPr>
              <a:t>MicroPython / Embedded C</a:t>
            </a:r>
            <a:endParaRPr lang="en-US" sz="1200" dirty="0"/>
          </a:p>
        </p:txBody>
      </p:sp>
      <p:sp>
        <p:nvSpPr>
          <p:cNvPr id="21" name="Text 19"/>
          <p:cNvSpPr/>
          <p:nvPr/>
        </p:nvSpPr>
        <p:spPr>
          <a:xfrm>
            <a:off x="3383280" y="3072384"/>
            <a:ext cx="5303520" cy="594360"/>
          </a:xfrm>
          <a:prstGeom prst="rect">
            <a:avLst/>
          </a:prstGeom>
          <a:noFill/>
          <a:ln/>
        </p:spPr>
        <p:txBody>
          <a:bodyPr wrap="square" lIns="0" tIns="0" rIns="0" bIns="0" rtlCol="0" anchor="ctr"/>
          <a:lstStyle/>
          <a:p>
            <a:pPr indent="0" marL="0">
              <a:buNone/>
            </a:pPr>
            <a:r>
              <a:rPr lang="en-US" sz="1100" dirty="0">
                <a:solidFill>
                  <a:srgbClr val="6B8F71"/>
                </a:solidFill>
                <a:latin typeface="Calibri" pitchFamily="34" charset="0"/>
                <a:ea typeface="Calibri" pitchFamily="34" charset="-122"/>
                <a:cs typeface="Calibri" pitchFamily="34" charset="-120"/>
              </a:rPr>
              <a:t>Language of IoT devices — 67,000+ unfilled Ohio tech roles</a:t>
            </a:r>
            <a:endParaRPr lang="en-US" sz="1100" dirty="0"/>
          </a:p>
        </p:txBody>
      </p:sp>
      <p:sp>
        <p:nvSpPr>
          <p:cNvPr id="22" name="Shape 20"/>
          <p:cNvSpPr/>
          <p:nvPr/>
        </p:nvSpPr>
        <p:spPr>
          <a:xfrm>
            <a:off x="274320" y="3730752"/>
            <a:ext cx="8595360" cy="594360"/>
          </a:xfrm>
          <a:prstGeom prst="rect">
            <a:avLst/>
          </a:prstGeom>
          <a:solidFill>
            <a:srgbClr val="FFFFFF"/>
          </a:solidFill>
          <a:ln w="12700">
            <a:solidFill>
              <a:srgbClr val="E0E0E0"/>
            </a:solidFill>
            <a:prstDash val="solid"/>
          </a:ln>
        </p:spPr>
      </p:sp>
      <p:sp>
        <p:nvSpPr>
          <p:cNvPr id="23" name="Shape 21"/>
          <p:cNvSpPr/>
          <p:nvPr/>
        </p:nvSpPr>
        <p:spPr>
          <a:xfrm>
            <a:off x="274320" y="3730752"/>
            <a:ext cx="54864" cy="594360"/>
          </a:xfrm>
          <a:prstGeom prst="rect">
            <a:avLst/>
          </a:prstGeom>
          <a:solidFill>
            <a:srgbClr val="97BC62"/>
          </a:solidFill>
          <a:ln w="12700">
            <a:solidFill>
              <a:srgbClr val="97BC62"/>
            </a:solidFill>
            <a:prstDash val="solid"/>
          </a:ln>
        </p:spPr>
      </p:sp>
      <p:sp>
        <p:nvSpPr>
          <p:cNvPr id="24" name="Text 22"/>
          <p:cNvSpPr/>
          <p:nvPr/>
        </p:nvSpPr>
        <p:spPr>
          <a:xfrm>
            <a:off x="457200" y="3730752"/>
            <a:ext cx="2743200" cy="594360"/>
          </a:xfrm>
          <a:prstGeom prst="rect">
            <a:avLst/>
          </a:prstGeom>
          <a:noFill/>
          <a:ln/>
        </p:spPr>
        <p:txBody>
          <a:bodyPr wrap="square" lIns="0" tIns="0" rIns="0" bIns="0" rtlCol="0" anchor="ctr"/>
          <a:lstStyle/>
          <a:p>
            <a:pPr indent="0" marL="0">
              <a:buNone/>
            </a:pPr>
            <a:r>
              <a:rPr lang="en-US" sz="1200" b="1" dirty="0">
                <a:solidFill>
                  <a:srgbClr val="1B2D1E"/>
                </a:solidFill>
                <a:latin typeface="Calibri" pitchFamily="34" charset="0"/>
                <a:ea typeface="Calibri" pitchFamily="34" charset="-122"/>
                <a:cs typeface="Calibri" pitchFamily="34" charset="-120"/>
              </a:rPr>
              <a:t>Cloud Integration</a:t>
            </a:r>
            <a:endParaRPr lang="en-US" sz="1200" dirty="0"/>
          </a:p>
        </p:txBody>
      </p:sp>
      <p:sp>
        <p:nvSpPr>
          <p:cNvPr id="25" name="Text 23"/>
          <p:cNvSpPr/>
          <p:nvPr/>
        </p:nvSpPr>
        <p:spPr>
          <a:xfrm>
            <a:off x="3383280" y="3730752"/>
            <a:ext cx="5303520" cy="594360"/>
          </a:xfrm>
          <a:prstGeom prst="rect">
            <a:avLst/>
          </a:prstGeom>
          <a:noFill/>
          <a:ln/>
        </p:spPr>
        <p:txBody>
          <a:bodyPr wrap="square" lIns="0" tIns="0" rIns="0" bIns="0" rtlCol="0" anchor="ctr"/>
          <a:lstStyle/>
          <a:p>
            <a:pPr indent="0" marL="0">
              <a:buNone/>
            </a:pPr>
            <a:r>
              <a:rPr lang="en-US" sz="1100" dirty="0">
                <a:solidFill>
                  <a:srgbClr val="6B8F71"/>
                </a:solidFill>
                <a:latin typeface="Calibri" pitchFamily="34" charset="0"/>
                <a:ea typeface="Calibri" pitchFamily="34" charset="-122"/>
                <a:cs typeface="Calibri" pitchFamily="34" charset="-120"/>
              </a:rPr>
              <a:t>Google Sheets → SQLite → dashboards — the full data pipeline</a:t>
            </a:r>
            <a:endParaRPr lang="en-US" sz="1100" dirty="0"/>
          </a:p>
        </p:txBody>
      </p:sp>
      <p:sp>
        <p:nvSpPr>
          <p:cNvPr id="26" name="Shape 24"/>
          <p:cNvSpPr/>
          <p:nvPr/>
        </p:nvSpPr>
        <p:spPr>
          <a:xfrm>
            <a:off x="274320" y="4407408"/>
            <a:ext cx="8595360" cy="502920"/>
          </a:xfrm>
          <a:prstGeom prst="rect">
            <a:avLst/>
          </a:prstGeom>
          <a:solidFill>
            <a:srgbClr val="1B3A2D"/>
          </a:solidFill>
          <a:ln w="12700">
            <a:solidFill>
              <a:srgbClr val="1B3A2D"/>
            </a:solidFill>
            <a:prstDash val="solid"/>
          </a:ln>
        </p:spPr>
      </p:sp>
      <p:sp>
        <p:nvSpPr>
          <p:cNvPr id="27" name="Text 25"/>
          <p:cNvSpPr/>
          <p:nvPr/>
        </p:nvSpPr>
        <p:spPr>
          <a:xfrm>
            <a:off x="457200" y="4407408"/>
            <a:ext cx="8229600" cy="502920"/>
          </a:xfrm>
          <a:prstGeom prst="rect">
            <a:avLst/>
          </a:prstGeom>
          <a:noFill/>
          <a:ln/>
        </p:spPr>
        <p:txBody>
          <a:bodyPr wrap="square" lIns="0" tIns="0" rIns="0" bIns="0" rtlCol="0" anchor="ctr"/>
          <a:lstStyle/>
          <a:p>
            <a:pPr algn="ctr" indent="0" marL="0">
              <a:buNone/>
            </a:pPr>
            <a:r>
              <a:rPr lang="en-US" sz="1100" dirty="0">
                <a:solidFill>
                  <a:srgbClr val="97BC62"/>
                </a:solidFill>
                <a:latin typeface="Calibri" pitchFamily="34" charset="0"/>
                <a:ea typeface="Calibri" pitchFamily="34" charset="-122"/>
                <a:cs typeface="Calibri" pitchFamily="34" charset="-120"/>
              </a:rPr>
              <a:t>Cincinnati Employers Using These Skills: GE Aerospace  ·  P&amp;G  ·  Bosch  ·  Kroger Distribution  ·  Cincinnati Children's Hospital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MicroLab Mini Greenhouse Monitor</dc:title>
  <dc:subject>PptxGenJS Presentation</dc:subject>
  <dc:creator>PptxGenJS</dc:creator>
  <cp:lastModifiedBy>PptxGenJS</cp:lastModifiedBy>
  <cp:revision>1</cp:revision>
  <dcterms:created xsi:type="dcterms:W3CDTF">2026-04-18T00:07:39Z</dcterms:created>
  <dcterms:modified xsi:type="dcterms:W3CDTF">2026-04-18T00:07:39Z</dcterms:modified>
</cp:coreProperties>
</file>